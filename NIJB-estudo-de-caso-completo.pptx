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2.png"/><Relationship Id="rId8" Type="http://schemas.openxmlformats.org/officeDocument/2006/relationships/image" Target="../media/image-7-3.png"/><Relationship Id="rId9" Type="http://schemas.openxmlformats.org/officeDocument/2006/relationships/image" Target="../media/image-7-4.png"/><Relationship Id="rId10" Type="http://schemas.openxmlformats.org/officeDocument/2006/relationships/image" Target="../media/image-7-5.png"/><Relationship Id="rId11" Type="http://schemas.openxmlformats.org/officeDocument/2006/relationships/image" Target="../media/image-7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tão da capa"/>
          <p:cNvSpPr/>
          <p:nvPr/>
        </p:nvSpPr>
        <p:spPr>
          <a:xfrm>
            <a:off x="640080" y="1097280"/>
            <a:ext cx="6766560" cy="4663440"/>
          </a:xfrm>
          <a:prstGeom prst="roundRect">
            <a:avLst>
              <a:gd name="adj" fmla="val 6863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" name="Etiqueta"/>
          <p:cNvSpPr/>
          <p:nvPr/>
        </p:nvSpPr>
        <p:spPr>
          <a:xfrm>
            <a:off x="1005840" y="146304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463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3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ESTUDO DE CASO · UI/UX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ifs,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good butts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0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NIJB: uma app de fitness privada, só para mulheres. Treino, alimentação, medidas e progresso num só sítio.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074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nome] · Design de produto e marketing</a:t>
            </a:r>
            <a:endParaRPr lang="en-US" sz="1200" dirty="0"/>
          </a:p>
        </p:txBody>
      </p:sp>
      <p:pic>
        <p:nvPicPr>
          <p:cNvPr id="9" name="Image 0" descr="Captura de ecrã da app: 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502920"/>
            <a:ext cx="290007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ÍNDICE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vais 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ecção"/>
          <p:cNvSpPr/>
          <p:nvPr/>
        </p:nvSpPr>
        <p:spPr>
          <a:xfrm>
            <a:off x="640080" y="1645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2296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9595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O contexto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quem, o problema e os requisitos</a:t>
            </a:r>
            <a:endParaRPr lang="en-US" sz="1200" dirty="0"/>
          </a:p>
        </p:txBody>
      </p:sp>
      <p:sp>
        <p:nvSpPr>
          <p:cNvPr id="11" name="Secção"/>
          <p:cNvSpPr/>
          <p:nvPr/>
        </p:nvSpPr>
        <p:spPr>
          <a:xfrm>
            <a:off x="6217920" y="1645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640080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3" name="Image 1" descr="dumb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19595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A solução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5 abas, uma a uma, com ecrãs reais</a:t>
            </a:r>
            <a:endParaRPr lang="en-US" sz="1200" dirty="0"/>
          </a:p>
        </p:txBody>
      </p:sp>
      <p:sp>
        <p:nvSpPr>
          <p:cNvPr id="16" name="Secção"/>
          <p:cNvSpPr/>
          <p:nvPr/>
        </p:nvSpPr>
        <p:spPr>
          <a:xfrm>
            <a:off x="640080" y="2788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822960" y="2971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8" name="Image 2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31025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2898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O ciclo menstrual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Fases, o que esperar em cada dia</a:t>
            </a:r>
            <a:endParaRPr lang="en-US" sz="1200" dirty="0"/>
          </a:p>
        </p:txBody>
      </p:sp>
      <p:sp>
        <p:nvSpPr>
          <p:cNvPr id="21" name="Secção"/>
          <p:cNvSpPr/>
          <p:nvPr/>
        </p:nvSpPr>
        <p:spPr>
          <a:xfrm>
            <a:off x="6217920" y="2788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6400800" y="2971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3" name="Image 3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31025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78040" y="2898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A identidade visual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17804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Cores, tipografia e ícones</a:t>
            </a:r>
            <a:endParaRPr lang="en-US" sz="1200" dirty="0"/>
          </a:p>
        </p:txBody>
      </p:sp>
      <p:sp>
        <p:nvSpPr>
          <p:cNvPr id="26" name="Secção"/>
          <p:cNvSpPr/>
          <p:nvPr/>
        </p:nvSpPr>
        <p:spPr>
          <a:xfrm>
            <a:off x="640080" y="3931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822960" y="4114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8" name="Image 4" descr="penc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" y="424555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020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 As decisões de UX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160020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mudou e porquê</a:t>
            </a:r>
            <a:endParaRPr lang="en-US" sz="1200" dirty="0"/>
          </a:p>
        </p:txBody>
      </p:sp>
      <p:sp>
        <p:nvSpPr>
          <p:cNvPr id="31" name="Secção"/>
          <p:cNvSpPr/>
          <p:nvPr/>
        </p:nvSpPr>
        <p:spPr>
          <a:xfrm>
            <a:off x="6217920" y="3931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2" name="Ícone"/>
          <p:cNvSpPr/>
          <p:nvPr/>
        </p:nvSpPr>
        <p:spPr>
          <a:xfrm>
            <a:off x="6400800" y="4114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3" name="Image 5" descr="us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1559" y="4245559"/>
            <a:ext cx="332842" cy="33284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7804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 O processo e a IA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717804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meu papel e o da IA</a:t>
            </a:r>
            <a:endParaRPr lang="en-US" sz="1200" dirty="0"/>
          </a:p>
        </p:txBody>
      </p:sp>
      <p:sp>
        <p:nvSpPr>
          <p:cNvPr id="36" name="Secção"/>
          <p:cNvSpPr/>
          <p:nvPr/>
        </p:nvSpPr>
        <p:spPr>
          <a:xfrm>
            <a:off x="640080" y="5074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7" name="Ícone"/>
          <p:cNvSpPr/>
          <p:nvPr/>
        </p:nvSpPr>
        <p:spPr>
          <a:xfrm>
            <a:off x="822960" y="5257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8" name="Image 6" descr="tren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19" y="5388559"/>
            <a:ext cx="332842" cy="33284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600200" y="5184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 O impacto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600200" y="5550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real, resultados, aprendizagens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RESUMO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Criada a partir de uma necessidade real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é uma app de fitness privada, só para mulheres, que criei a partir das minhas próprias necessidades e ideias, sem experiência prévia em programação e com o apoio do Claude Code. Na app o nome aparece como "Just Butts".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6400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9" name="Image 0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320405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Mulheres entre os 25 e os 65 anos, em especial quem está a começar no ginásio.</a:t>
            </a:r>
            <a:endParaRPr lang="en-US" sz="1300" dirty="0"/>
          </a:p>
        </p:txBody>
      </p:sp>
      <p:sp>
        <p:nvSpPr>
          <p:cNvPr id="12" name="Cartão"/>
          <p:cNvSpPr/>
          <p:nvPr/>
        </p:nvSpPr>
        <p:spPr>
          <a:xfrm>
            <a:off x="33832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36118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4" name="Image 1" descr="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98" y="320405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por convite. Cada utilizadora vê apenas os seus próprios dados.</a:t>
            </a:r>
            <a:endParaRPr lang="en-US" sz="1300" dirty="0"/>
          </a:p>
        </p:txBody>
      </p:sp>
      <p:sp>
        <p:nvSpPr>
          <p:cNvPr id="17" name="Cartão"/>
          <p:cNvSpPr/>
          <p:nvPr/>
        </p:nvSpPr>
        <p:spPr>
          <a:xfrm>
            <a:off x="61264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63550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19" name="Image 2" descr="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3204058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Treinar no ginásio pode ser confuso e intimidante.</a:t>
            </a:r>
            <a:endParaRPr lang="en-US" sz="1300" dirty="0"/>
          </a:p>
        </p:txBody>
      </p:sp>
      <p:sp>
        <p:nvSpPr>
          <p:cNvPr id="22" name="Cartão"/>
          <p:cNvSpPr/>
          <p:nvPr/>
        </p:nvSpPr>
        <p:spPr>
          <a:xfrm>
            <a:off x="88696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3" name="Ícone"/>
          <p:cNvSpPr/>
          <p:nvPr/>
        </p:nvSpPr>
        <p:spPr>
          <a:xfrm>
            <a:off x="90982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4" name="Image 3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98" y="320405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982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0982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Treino, alimentação, medidas, progresso e perfil na mesma app, com uma identidade divertida.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utilizadoras já usaram a app. Os resultados são qualitativos e iniciais, não um estudo formal.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problema: um ginásio intimidante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Dificuldade"/>
          <p:cNvSpPr/>
          <p:nvPr/>
        </p:nvSpPr>
        <p:spPr>
          <a:xfrm>
            <a:off x="640080" y="164592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saber o que fazer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exercícios fazer e em que ordem.</a:t>
            </a:r>
            <a:endParaRPr lang="en-US" sz="1300" dirty="0"/>
          </a:p>
        </p:txBody>
      </p:sp>
      <p:sp>
        <p:nvSpPr>
          <p:cNvPr id="11" name="Dificuldade"/>
          <p:cNvSpPr/>
          <p:nvPr/>
        </p:nvSpPr>
        <p:spPr>
          <a:xfrm>
            <a:off x="4297680" y="164592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45262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3" name="Image 1" descr="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98" y="201533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recordar as cargas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Séries, repetições e peso da última vez.</a:t>
            </a:r>
            <a:endParaRPr lang="en-US" sz="1300" dirty="0"/>
          </a:p>
        </p:txBody>
      </p:sp>
      <p:sp>
        <p:nvSpPr>
          <p:cNvPr id="16" name="Dificuldade"/>
          <p:cNvSpPr/>
          <p:nvPr/>
        </p:nvSpPr>
        <p:spPr>
          <a:xfrm>
            <a:off x="7955280" y="164592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81838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18" name="Image 2" descr="tim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98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Perder tempo a decidir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a meio do treino, entre séries.</a:t>
            </a:r>
            <a:endParaRPr lang="en-US" sz="1300" dirty="0"/>
          </a:p>
        </p:txBody>
      </p:sp>
      <p:sp>
        <p:nvSpPr>
          <p:cNvPr id="21" name="Dificuldade"/>
          <p:cNvSpPr/>
          <p:nvPr/>
        </p:nvSpPr>
        <p:spPr>
          <a:xfrm>
            <a:off x="640080" y="374904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868680" y="39776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3" name="Image 3" descr="tr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118458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16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Difícil ver a evolução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686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registo, não se vê o progresso.</a:t>
            </a:r>
            <a:endParaRPr lang="en-US" sz="1300" dirty="0"/>
          </a:p>
        </p:txBody>
      </p:sp>
      <p:sp>
        <p:nvSpPr>
          <p:cNvPr id="26" name="Dificuldade"/>
          <p:cNvSpPr/>
          <p:nvPr/>
        </p:nvSpPr>
        <p:spPr>
          <a:xfrm>
            <a:off x="4297680" y="374904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4526280" y="39776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8" name="Image 4" descr="boo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098" y="4118458"/>
            <a:ext cx="358445" cy="35844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92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em sítios diferentes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Treino, alimentação e medidas espalhados.</a:t>
            </a:r>
            <a:endParaRPr lang="en-US" sz="1300" dirty="0"/>
          </a:p>
        </p:txBody>
      </p:sp>
      <p:sp>
        <p:nvSpPr>
          <p:cNvPr id="31" name="Dificuldade"/>
          <p:cNvSpPr/>
          <p:nvPr/>
        </p:nvSpPr>
        <p:spPr>
          <a:xfrm>
            <a:off x="7955280" y="374904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2" name="Ícone"/>
          <p:cNvSpPr/>
          <p:nvPr/>
        </p:nvSpPr>
        <p:spPr>
          <a:xfrm>
            <a:off x="8183880" y="39776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33" name="Image 5" descr="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698" y="4118458"/>
            <a:ext cx="358445" cy="35844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068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motivação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1838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um objetivo claro, é fácil desistir.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quem está a começar, cada uma destas dificuldades é um motivo para não voltar.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 central e os requisitos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Pergunta central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14667"/>
            </a:avLst>
          </a:prstGeom>
          <a:solidFill>
            <a:srgbClr val="D9CFF0">
              <a:alpha val="6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914400" y="1920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FDFB"/>
          </a:solidFill>
          <a:ln w="12700">
            <a:solidFill>
              <a:srgbClr val="FFFDFB">
                <a:alpha val="0"/>
              </a:srgbClr>
            </a:solidFill>
            <a:prstDash val="solid"/>
          </a:ln>
        </p:spPr>
      </p:sp>
      <p:pic>
        <p:nvPicPr>
          <p:cNvPr id="8" name="Image 0" descr="mes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8" y="206105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tornar a experiência de ginásio mais simples e motivadora para as mulheres, juntando planeamento, registo e progresso numa app intuitiva e bonita?</a:t>
            </a:r>
            <a:endParaRPr lang="en-US" sz="1800" dirty="0"/>
          </a:p>
        </p:txBody>
      </p:sp>
      <p:sp>
        <p:nvSpPr>
          <p:cNvPr id="10" name="Requisito"/>
          <p:cNvSpPr/>
          <p:nvPr/>
        </p:nvSpPr>
        <p:spPr>
          <a:xfrm>
            <a:off x="640080" y="329184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1" name="Ícone"/>
          <p:cNvSpPr/>
          <p:nvPr/>
        </p:nvSpPr>
        <p:spPr>
          <a:xfrm>
            <a:off x="868680" y="36118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2" name="Image 1" descr="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7526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Usar com uma mão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3913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ginásio, entre séries, com o telemóvel numa mão.</a:t>
            </a:r>
            <a:endParaRPr lang="en-US" sz="1250" dirty="0"/>
          </a:p>
        </p:txBody>
      </p:sp>
      <p:sp>
        <p:nvSpPr>
          <p:cNvPr id="15" name="Requisito"/>
          <p:cNvSpPr/>
          <p:nvPr/>
        </p:nvSpPr>
        <p:spPr>
          <a:xfrm>
            <a:off x="6126480" y="329184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6" name="Ícone"/>
          <p:cNvSpPr/>
          <p:nvPr/>
        </p:nvSpPr>
        <p:spPr>
          <a:xfrm>
            <a:off x="6355080" y="36118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7" name="Image 2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375269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Instalar no ecrã principal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3913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ir à loja de apps: funciona como uma app (PWA).</a:t>
            </a:r>
            <a:endParaRPr lang="en-US" sz="1250" dirty="0"/>
          </a:p>
        </p:txBody>
      </p:sp>
      <p:sp>
        <p:nvSpPr>
          <p:cNvPr id="20" name="Requisito"/>
          <p:cNvSpPr/>
          <p:nvPr/>
        </p:nvSpPr>
        <p:spPr>
          <a:xfrm>
            <a:off x="640080" y="475488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1" name="Ícone"/>
          <p:cNvSpPr/>
          <p:nvPr/>
        </p:nvSpPr>
        <p:spPr>
          <a:xfrm>
            <a:off x="868680" y="50749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2" name="Image 3" descr="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521573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3736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separados e protegidos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737360" y="5376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Utilizador e palavra-passe; ninguém vê o treino das outras.</a:t>
            </a:r>
            <a:endParaRPr lang="en-US" sz="1250" dirty="0"/>
          </a:p>
        </p:txBody>
      </p:sp>
      <p:sp>
        <p:nvSpPr>
          <p:cNvPr id="25" name="Requisito"/>
          <p:cNvSpPr/>
          <p:nvPr/>
        </p:nvSpPr>
        <p:spPr>
          <a:xfrm>
            <a:off x="6126480" y="475488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6" name="Ícone"/>
          <p:cNvSpPr/>
          <p:nvPr/>
        </p:nvSpPr>
        <p:spPr>
          <a:xfrm>
            <a:off x="6355080" y="50749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7" name="Image 4" descr="st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898" y="5215738"/>
            <a:ext cx="358445" cy="35844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 simpático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223760" y="5376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Bem-humorado, sem culpabilizar quem falha um dia.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PROCESSO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trabalhei: testar e corrigir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Passo"/>
          <p:cNvSpPr/>
          <p:nvPr/>
        </p:nvSpPr>
        <p:spPr>
          <a:xfrm>
            <a:off x="640080" y="16459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Número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Partir de uma necessidade real e das dificuldades de quem treina.</a:t>
            </a:r>
            <a:endParaRPr lang="en-US" sz="1250" dirty="0"/>
          </a:p>
        </p:txBody>
      </p:sp>
      <p:sp>
        <p:nvSpPr>
          <p:cNvPr id="12" name="Passo"/>
          <p:cNvSpPr/>
          <p:nvPr/>
        </p:nvSpPr>
        <p:spPr>
          <a:xfrm>
            <a:off x="4297680" y="16459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Número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262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Objetivos, funcionalidades, informação e tom de voz.</a:t>
            </a:r>
            <a:endParaRPr lang="en-US" sz="1250" dirty="0"/>
          </a:p>
        </p:txBody>
      </p:sp>
      <p:sp>
        <p:nvSpPr>
          <p:cNvPr id="18" name="Passo"/>
          <p:cNvSpPr/>
          <p:nvPr/>
        </p:nvSpPr>
        <p:spPr>
          <a:xfrm>
            <a:off x="7955280" y="16459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9" name="Número"/>
          <p:cNvSpPr/>
          <p:nvPr/>
        </p:nvSpPr>
        <p:spPr>
          <a:xfrm>
            <a:off x="8183880" y="187452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1838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9202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838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 com IA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Claude Code escreve e testa o código sob a minha direção.</a:t>
            </a:r>
            <a:endParaRPr lang="en-US" sz="1250" dirty="0"/>
          </a:p>
        </p:txBody>
      </p:sp>
      <p:sp>
        <p:nvSpPr>
          <p:cNvPr id="24" name="Passo"/>
          <p:cNvSpPr/>
          <p:nvPr/>
        </p:nvSpPr>
        <p:spPr>
          <a:xfrm>
            <a:off x="640080" y="388620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Número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la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1605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686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Testar no telemóvel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8686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versão é experimentada como uma utilizadora a usaria.</a:t>
            </a:r>
            <a:endParaRPr lang="en-US" sz="1250" dirty="0"/>
          </a:p>
        </p:txBody>
      </p:sp>
      <p:sp>
        <p:nvSpPr>
          <p:cNvPr id="30" name="Passo"/>
          <p:cNvSpPr/>
          <p:nvPr/>
        </p:nvSpPr>
        <p:spPr>
          <a:xfrm>
            <a:off x="4297680" y="388620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1" name="Número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262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pic>
        <p:nvPicPr>
          <p:cNvPr id="33" name="Image 4" descr="mess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416052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5262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Recolher feedback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45262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Ouvir as utilizadoras e perceber o que não funciona.</a:t>
            </a:r>
            <a:endParaRPr lang="en-US" sz="1250" dirty="0"/>
          </a:p>
        </p:txBody>
      </p:sp>
      <p:sp>
        <p:nvSpPr>
          <p:cNvPr id="36" name="Passo"/>
          <p:cNvSpPr/>
          <p:nvPr/>
        </p:nvSpPr>
        <p:spPr>
          <a:xfrm>
            <a:off x="7955280" y="388620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7" name="Número"/>
          <p:cNvSpPr/>
          <p:nvPr/>
        </p:nvSpPr>
        <p:spPr>
          <a:xfrm>
            <a:off x="8183880" y="411480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1838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pic>
        <p:nvPicPr>
          <p:cNvPr id="39" name="Image 5" descr="penci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416052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1838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Corrigir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81838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Retirar o que não serve e afinar o que serve.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ciclo repetiu-se a cada funcionalidade: ideia, versão, teste, feedback e correção.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abas, cada uma responde a um problema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Barra de navegação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45455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Aba ativa"/>
          <p:cNvSpPr/>
          <p:nvPr/>
        </p:nvSpPr>
        <p:spPr>
          <a:xfrm>
            <a:off x="822960" y="1755648"/>
            <a:ext cx="2011680" cy="786384"/>
          </a:xfrm>
          <a:prstGeom prst="roundRect">
            <a:avLst>
              <a:gd name="adj" fmla="val 4651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8" name="Image 0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928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400" dirty="0"/>
          </a:p>
        </p:txBody>
      </p:sp>
      <p:pic>
        <p:nvPicPr>
          <p:cNvPr id="10" name="Image 1" descr="lea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928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</a:t>
            </a:r>
            <a:endParaRPr lang="en-US" sz="1400" dirty="0"/>
          </a:p>
        </p:txBody>
      </p:sp>
      <p:pic>
        <p:nvPicPr>
          <p:cNvPr id="12" name="Image 2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928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6072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</a:t>
            </a:r>
            <a:endParaRPr lang="en-US" sz="1400" dirty="0"/>
          </a:p>
        </p:txBody>
      </p:sp>
      <p:pic>
        <p:nvPicPr>
          <p:cNvPr id="14" name="Image 3" descr="tr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89280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0956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</a:t>
            </a:r>
            <a:endParaRPr lang="en-US" sz="1400" dirty="0"/>
          </a:p>
        </p:txBody>
      </p:sp>
      <p:pic>
        <p:nvPicPr>
          <p:cNvPr id="16" name="Image 4" descr="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892808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5840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n-US" sz="1400" dirty="0"/>
          </a:p>
        </p:txBody>
      </p:sp>
      <p:sp>
        <p:nvSpPr>
          <p:cNvPr id="18" name="Aba"/>
          <p:cNvSpPr/>
          <p:nvPr/>
        </p:nvSpPr>
        <p:spPr>
          <a:xfrm>
            <a:off x="64008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9" name="Ícone"/>
          <p:cNvSpPr/>
          <p:nvPr/>
        </p:nvSpPr>
        <p:spPr>
          <a:xfrm>
            <a:off x="82296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20" name="Image 5" descr="dumbbel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8" y="3341218"/>
            <a:ext cx="358445" cy="35844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82296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saber o que fazer nem que carga usar</a:t>
            </a:r>
            <a:endParaRPr lang="en-US" sz="1250" dirty="0"/>
          </a:p>
        </p:txBody>
      </p:sp>
      <p:sp>
        <p:nvSpPr>
          <p:cNvPr id="23" name="Aba"/>
          <p:cNvSpPr/>
          <p:nvPr/>
        </p:nvSpPr>
        <p:spPr>
          <a:xfrm>
            <a:off x="283464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4" name="Ícone"/>
          <p:cNvSpPr/>
          <p:nvPr/>
        </p:nvSpPr>
        <p:spPr>
          <a:xfrm>
            <a:off x="301752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5" name="Image 6" descr="leaf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338" y="3341218"/>
            <a:ext cx="358445" cy="35844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01752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301752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 tudo organizado no mesmo sítio</a:t>
            </a:r>
            <a:endParaRPr lang="en-US" sz="1250" dirty="0"/>
          </a:p>
        </p:txBody>
      </p:sp>
      <p:sp>
        <p:nvSpPr>
          <p:cNvPr id="28" name="Aba"/>
          <p:cNvSpPr/>
          <p:nvPr/>
        </p:nvSpPr>
        <p:spPr>
          <a:xfrm>
            <a:off x="502920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9" name="Ícone"/>
          <p:cNvSpPr/>
          <p:nvPr/>
        </p:nvSpPr>
        <p:spPr>
          <a:xfrm>
            <a:off x="521208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30" name="Image 7" descr="activit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2898" y="3341218"/>
            <a:ext cx="358445" cy="35844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21208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521208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Acompanhar a evolução do corpo</a:t>
            </a:r>
            <a:endParaRPr lang="en-US" sz="1250" dirty="0"/>
          </a:p>
        </p:txBody>
      </p:sp>
      <p:sp>
        <p:nvSpPr>
          <p:cNvPr id="33" name="Aba"/>
          <p:cNvSpPr/>
          <p:nvPr/>
        </p:nvSpPr>
        <p:spPr>
          <a:xfrm>
            <a:off x="722376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4" name="Ícone"/>
          <p:cNvSpPr/>
          <p:nvPr/>
        </p:nvSpPr>
        <p:spPr>
          <a:xfrm>
            <a:off x="740664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35" name="Image 8" descr="tren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7458" y="3341218"/>
            <a:ext cx="358445" cy="35844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40664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740664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motivação e de objetivo claro</a:t>
            </a:r>
            <a:endParaRPr lang="en-US" sz="1250" dirty="0"/>
          </a:p>
        </p:txBody>
      </p:sp>
      <p:sp>
        <p:nvSpPr>
          <p:cNvPr id="38" name="Aba"/>
          <p:cNvSpPr/>
          <p:nvPr/>
        </p:nvSpPr>
        <p:spPr>
          <a:xfrm>
            <a:off x="941832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9" name="Ícone"/>
          <p:cNvSpPr/>
          <p:nvPr/>
        </p:nvSpPr>
        <p:spPr>
          <a:xfrm>
            <a:off x="960120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40" name="Image 9" descr="us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2018" y="3341218"/>
            <a:ext cx="358445" cy="35844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60120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960120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Personalizar a experiência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1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Treino: sempre claro o que fazer a seguir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Captura de ecrã da app: trei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645920"/>
            <a:ext cx="7406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Exercícios de força por grupo: pernas, glúteos, costas, peito, bíceps, tríceps, ombros e abs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Cardio: passadeira, bicicleta, escadas e elíptica, e outras modalidades como natação, corrida ou ténis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exercício tem a técnica explicada, os erros comuns a evitar e o nível de esforço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Registo por série: repetições e carga; no cardio, duração ou distância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melhor carga anterior aparece no próprio exercício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Temporizador de descanso com o tempo recomendado</a:t>
            </a:r>
            <a:endParaRPr lang="en-US" sz="1500" dirty="0"/>
          </a:p>
        </p:txBody>
      </p:sp>
      <p:sp>
        <p:nvSpPr>
          <p:cNvPr id="8" name="Objetivo"/>
          <p:cNvSpPr/>
          <p:nvPr/>
        </p:nvSpPr>
        <p:spPr>
          <a:xfrm>
            <a:off x="4114800" y="5440680"/>
            <a:ext cx="7406640" cy="777240"/>
          </a:xfrm>
          <a:prstGeom prst="roundRect">
            <a:avLst>
              <a:gd name="adj" fmla="val 25882"/>
            </a:avLst>
          </a:prstGeom>
          <a:solidFill>
            <a:srgbClr val="C6E8DC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tar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623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3776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Objetivo: não ser preciso decidir tudo no momento.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1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Treino: o que há dentro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Coluna"/>
          <p:cNvSpPr/>
          <p:nvPr/>
        </p:nvSpPr>
        <p:spPr>
          <a:xfrm>
            <a:off x="640080" y="1645920"/>
            <a:ext cx="3474720" cy="4389120"/>
          </a:xfrm>
          <a:prstGeom prst="roundRect">
            <a:avLst>
              <a:gd name="adj" fmla="val 5789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Força por grupo</a:t>
            </a:r>
            <a:endParaRPr lang="en-US" sz="1600" dirty="0"/>
          </a:p>
        </p:txBody>
      </p:sp>
      <p:sp>
        <p:nvSpPr>
          <p:cNvPr id="10" name="Etiqueta"/>
          <p:cNvSpPr/>
          <p:nvPr/>
        </p:nvSpPr>
        <p:spPr>
          <a:xfrm>
            <a:off x="8686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Pernas</a:t>
            </a:r>
            <a:endParaRPr lang="en-US" sz="1100" dirty="0"/>
          </a:p>
        </p:txBody>
      </p:sp>
      <p:sp>
        <p:nvSpPr>
          <p:cNvPr id="12" name="Etiqueta"/>
          <p:cNvSpPr/>
          <p:nvPr/>
        </p:nvSpPr>
        <p:spPr>
          <a:xfrm>
            <a:off x="24688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688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Glúteos</a:t>
            </a:r>
            <a:endParaRPr lang="en-US" sz="1100" dirty="0"/>
          </a:p>
        </p:txBody>
      </p:sp>
      <p:sp>
        <p:nvSpPr>
          <p:cNvPr id="14" name="Etiqueta"/>
          <p:cNvSpPr/>
          <p:nvPr/>
        </p:nvSpPr>
        <p:spPr>
          <a:xfrm>
            <a:off x="8686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Costas</a:t>
            </a:r>
            <a:endParaRPr lang="en-US" sz="1100" dirty="0"/>
          </a:p>
        </p:txBody>
      </p:sp>
      <p:sp>
        <p:nvSpPr>
          <p:cNvPr id="16" name="Etiqueta"/>
          <p:cNvSpPr/>
          <p:nvPr/>
        </p:nvSpPr>
        <p:spPr>
          <a:xfrm>
            <a:off x="24688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688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Peito</a:t>
            </a:r>
            <a:endParaRPr lang="en-US" sz="1100" dirty="0"/>
          </a:p>
        </p:txBody>
      </p:sp>
      <p:sp>
        <p:nvSpPr>
          <p:cNvPr id="18" name="Etiqueta"/>
          <p:cNvSpPr/>
          <p:nvPr/>
        </p:nvSpPr>
        <p:spPr>
          <a:xfrm>
            <a:off x="8686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Bíceps</a:t>
            </a:r>
            <a:endParaRPr lang="en-US" sz="1100" dirty="0"/>
          </a:p>
        </p:txBody>
      </p:sp>
      <p:sp>
        <p:nvSpPr>
          <p:cNvPr id="20" name="Etiqueta"/>
          <p:cNvSpPr/>
          <p:nvPr/>
        </p:nvSpPr>
        <p:spPr>
          <a:xfrm>
            <a:off x="24688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688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Tríceps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868680" y="453542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5354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Ombros</a:t>
            </a:r>
            <a:endParaRPr lang="en-US" sz="1100" dirty="0"/>
          </a:p>
        </p:txBody>
      </p:sp>
      <p:sp>
        <p:nvSpPr>
          <p:cNvPr id="24" name="Etiqueta"/>
          <p:cNvSpPr/>
          <p:nvPr/>
        </p:nvSpPr>
        <p:spPr>
          <a:xfrm>
            <a:off x="2468880" y="453542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68880" y="45354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</a:t>
            </a:r>
            <a:endParaRPr lang="en-US" sz="1100" dirty="0"/>
          </a:p>
        </p:txBody>
      </p:sp>
      <p:sp>
        <p:nvSpPr>
          <p:cNvPr id="26" name="Coluna"/>
          <p:cNvSpPr/>
          <p:nvPr/>
        </p:nvSpPr>
        <p:spPr>
          <a:xfrm>
            <a:off x="4297680" y="1645920"/>
            <a:ext cx="3474720" cy="4389120"/>
          </a:xfrm>
          <a:prstGeom prst="roundRect">
            <a:avLst>
              <a:gd name="adj" fmla="val 5789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45262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8" name="Image 1" descr="activ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98" y="2015338"/>
            <a:ext cx="358445" cy="35844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3492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Cardio e desportos</a:t>
            </a:r>
            <a:endParaRPr lang="en-US" sz="1600" dirty="0"/>
          </a:p>
        </p:txBody>
      </p:sp>
      <p:sp>
        <p:nvSpPr>
          <p:cNvPr id="30" name="Etiqueta"/>
          <p:cNvSpPr/>
          <p:nvPr/>
        </p:nvSpPr>
        <p:spPr>
          <a:xfrm>
            <a:off x="45262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262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Passadeira</a:t>
            </a:r>
            <a:endParaRPr lang="en-US" sz="1100" dirty="0"/>
          </a:p>
        </p:txBody>
      </p:sp>
      <p:sp>
        <p:nvSpPr>
          <p:cNvPr id="32" name="Etiqueta"/>
          <p:cNvSpPr/>
          <p:nvPr/>
        </p:nvSpPr>
        <p:spPr>
          <a:xfrm>
            <a:off x="61264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264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Bicicleta</a:t>
            </a:r>
            <a:endParaRPr lang="en-US" sz="1100" dirty="0"/>
          </a:p>
        </p:txBody>
      </p:sp>
      <p:sp>
        <p:nvSpPr>
          <p:cNvPr id="34" name="Etiqueta"/>
          <p:cNvSpPr/>
          <p:nvPr/>
        </p:nvSpPr>
        <p:spPr>
          <a:xfrm>
            <a:off x="45262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262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Escadas</a:t>
            </a:r>
            <a:endParaRPr lang="en-US" sz="1100" dirty="0"/>
          </a:p>
        </p:txBody>
      </p:sp>
      <p:sp>
        <p:nvSpPr>
          <p:cNvPr id="36" name="Etiqueta"/>
          <p:cNvSpPr/>
          <p:nvPr/>
        </p:nvSpPr>
        <p:spPr>
          <a:xfrm>
            <a:off x="61264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1264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Elíptica</a:t>
            </a:r>
            <a:endParaRPr lang="en-US" sz="1100" dirty="0"/>
          </a:p>
        </p:txBody>
      </p:sp>
      <p:sp>
        <p:nvSpPr>
          <p:cNvPr id="38" name="Etiqueta"/>
          <p:cNvSpPr/>
          <p:nvPr/>
        </p:nvSpPr>
        <p:spPr>
          <a:xfrm>
            <a:off x="45262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262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Natação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61264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1264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Corrida</a:t>
            </a:r>
            <a:endParaRPr lang="en-US" sz="1100" dirty="0"/>
          </a:p>
        </p:txBody>
      </p:sp>
      <p:sp>
        <p:nvSpPr>
          <p:cNvPr id="42" name="Etiqueta"/>
          <p:cNvSpPr/>
          <p:nvPr/>
        </p:nvSpPr>
        <p:spPr>
          <a:xfrm>
            <a:off x="4526280" y="453542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526280" y="45354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Ténis</a:t>
            </a:r>
            <a:endParaRPr lang="en-US" sz="1100" dirty="0"/>
          </a:p>
        </p:txBody>
      </p:sp>
      <p:sp>
        <p:nvSpPr>
          <p:cNvPr id="44" name="Coluna"/>
          <p:cNvSpPr/>
          <p:nvPr/>
        </p:nvSpPr>
        <p:spPr>
          <a:xfrm>
            <a:off x="7955280" y="1645920"/>
            <a:ext cx="3474720" cy="4389120"/>
          </a:xfrm>
          <a:prstGeom prst="roundRect">
            <a:avLst>
              <a:gd name="adj" fmla="val 5789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45" name="Ícone"/>
          <p:cNvSpPr/>
          <p:nvPr/>
        </p:nvSpPr>
        <p:spPr>
          <a:xfrm>
            <a:off x="81838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46" name="Image 2" descr="tim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98" y="2015338"/>
            <a:ext cx="358445" cy="35844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006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Ferramentas</a:t>
            </a:r>
            <a:endParaRPr lang="en-US" sz="1600" dirty="0"/>
          </a:p>
        </p:txBody>
      </p:sp>
      <p:sp>
        <p:nvSpPr>
          <p:cNvPr id="48" name="Etiqueta"/>
          <p:cNvSpPr/>
          <p:nvPr/>
        </p:nvSpPr>
        <p:spPr>
          <a:xfrm>
            <a:off x="81838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1838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Registo por série</a:t>
            </a:r>
            <a:endParaRPr lang="en-US" sz="1100" dirty="0"/>
          </a:p>
        </p:txBody>
      </p:sp>
      <p:sp>
        <p:nvSpPr>
          <p:cNvPr id="50" name="Etiqueta"/>
          <p:cNvSpPr/>
          <p:nvPr/>
        </p:nvSpPr>
        <p:spPr>
          <a:xfrm>
            <a:off x="97840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97840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carga anterior</a:t>
            </a:r>
            <a:endParaRPr lang="en-US" sz="1100" dirty="0"/>
          </a:p>
        </p:txBody>
      </p:sp>
      <p:sp>
        <p:nvSpPr>
          <p:cNvPr id="52" name="Etiqueta"/>
          <p:cNvSpPr/>
          <p:nvPr/>
        </p:nvSpPr>
        <p:spPr>
          <a:xfrm>
            <a:off x="81838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1838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Temporizador de descanso</a:t>
            </a:r>
            <a:endParaRPr lang="en-US" sz="1100" dirty="0"/>
          </a:p>
        </p:txBody>
      </p:sp>
      <p:sp>
        <p:nvSpPr>
          <p:cNvPr id="54" name="Etiqueta"/>
          <p:cNvSpPr/>
          <p:nvPr/>
        </p:nvSpPr>
        <p:spPr>
          <a:xfrm>
            <a:off x="97840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97840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Aquecimento e alongamentos</a:t>
            </a:r>
            <a:endParaRPr lang="en-US" sz="1100" dirty="0"/>
          </a:p>
        </p:txBody>
      </p:sp>
      <p:sp>
        <p:nvSpPr>
          <p:cNvPr id="56" name="Etiqueta"/>
          <p:cNvSpPr/>
          <p:nvPr/>
        </p:nvSpPr>
        <p:spPr>
          <a:xfrm>
            <a:off x="81838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1838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Exercícios próprios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utilizadora também pode acrescentar os seus próprios exercícios a cada grupo.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2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Alimentação: orientação simples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Captura de ecrã da app: alimenta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640080" y="164592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9" name="Image 1" descr="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9595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Hidratação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Litros de água por dia, calculados a partir do peso, com dias de treino e sem treino.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640080" y="274320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868680" y="2926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4" name="Image 2" descr="lea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30568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Proteína do dia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Intervalo de gramas de proteína recomendado, repartido por refeições.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640080" y="384048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868680" y="40233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9" name="Image 3" descr="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15411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podes comer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Guia de alimentos por categoria, com quantidades à medida da mão.</a:t>
            </a:r>
            <a:endParaRPr lang="en-US" sz="1200" dirty="0"/>
          </a:p>
        </p:txBody>
      </p:sp>
      <p:sp>
        <p:nvSpPr>
          <p:cNvPr id="22" name="Cartão"/>
          <p:cNvSpPr/>
          <p:nvPr/>
        </p:nvSpPr>
        <p:spPr>
          <a:xfrm>
            <a:off x="640080" y="493776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3" name="Ícone"/>
          <p:cNvSpPr/>
          <p:nvPr/>
        </p:nvSpPr>
        <p:spPr>
          <a:xfrm>
            <a:off x="868680" y="512064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4" name="Image 4" descr="calend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525139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9164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Refeições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6916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Sugestões para cada altura do dia, ajustadas ao objetivo.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126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São valores de referência gerais e não substituem o acompanhamento de um nutricionista.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3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Medições: o corpo além da balança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Captura de ecrã da app: medico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Métricas registadas</a:t>
            </a:r>
            <a:endParaRPr lang="en-US" sz="1600" dirty="0"/>
          </a:p>
        </p:txBody>
      </p:sp>
      <p:sp>
        <p:nvSpPr>
          <p:cNvPr id="8" name="Etiqueta"/>
          <p:cNvSpPr/>
          <p:nvPr/>
        </p:nvSpPr>
        <p:spPr>
          <a:xfrm>
            <a:off x="4114800" y="2011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Peso</a:t>
            </a:r>
            <a:endParaRPr lang="en-US" sz="1100" dirty="0"/>
          </a:p>
        </p:txBody>
      </p:sp>
      <p:sp>
        <p:nvSpPr>
          <p:cNvPr id="10" name="Etiqueta"/>
          <p:cNvSpPr/>
          <p:nvPr/>
        </p:nvSpPr>
        <p:spPr>
          <a:xfrm>
            <a:off x="6629400" y="2011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IMC</a:t>
            </a:r>
            <a:endParaRPr lang="en-US" sz="1100" dirty="0"/>
          </a:p>
        </p:txBody>
      </p:sp>
      <p:sp>
        <p:nvSpPr>
          <p:cNvPr id="12" name="Etiqueta"/>
          <p:cNvSpPr/>
          <p:nvPr/>
        </p:nvSpPr>
        <p:spPr>
          <a:xfrm>
            <a:off x="9144000" y="2011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Gordura corporal</a:t>
            </a:r>
            <a:endParaRPr lang="en-US" sz="1100" dirty="0"/>
          </a:p>
        </p:txBody>
      </p:sp>
      <p:sp>
        <p:nvSpPr>
          <p:cNvPr id="14" name="Etiqueta"/>
          <p:cNvSpPr/>
          <p:nvPr/>
        </p:nvSpPr>
        <p:spPr>
          <a:xfrm>
            <a:off x="4114800" y="24688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Gordura subcutânea</a:t>
            </a:r>
            <a:endParaRPr lang="en-US" sz="1100" dirty="0"/>
          </a:p>
        </p:txBody>
      </p:sp>
      <p:sp>
        <p:nvSpPr>
          <p:cNvPr id="16" name="Etiqueta"/>
          <p:cNvSpPr/>
          <p:nvPr/>
        </p:nvSpPr>
        <p:spPr>
          <a:xfrm>
            <a:off x="6629400" y="24688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Gordura visceral</a:t>
            </a:r>
            <a:endParaRPr lang="en-US" sz="1100" dirty="0"/>
          </a:p>
        </p:txBody>
      </p:sp>
      <p:sp>
        <p:nvSpPr>
          <p:cNvPr id="18" name="Etiqueta"/>
          <p:cNvSpPr/>
          <p:nvPr/>
        </p:nvSpPr>
        <p:spPr>
          <a:xfrm>
            <a:off x="9144000" y="24688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Água corporal</a:t>
            </a:r>
            <a:endParaRPr lang="en-US" sz="1100" dirty="0"/>
          </a:p>
        </p:txBody>
      </p:sp>
      <p:sp>
        <p:nvSpPr>
          <p:cNvPr id="20" name="Etiqueta"/>
          <p:cNvSpPr/>
          <p:nvPr/>
        </p:nvSpPr>
        <p:spPr>
          <a:xfrm>
            <a:off x="4114800" y="2926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Massa muscular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6629400" y="2926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Massa óssea</a:t>
            </a:r>
            <a:endParaRPr lang="en-US" sz="1100" dirty="0"/>
          </a:p>
        </p:txBody>
      </p:sp>
      <p:sp>
        <p:nvSpPr>
          <p:cNvPr id="24" name="Etiqueta"/>
          <p:cNvSpPr/>
          <p:nvPr/>
        </p:nvSpPr>
        <p:spPr>
          <a:xfrm>
            <a:off x="9144000" y="2926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BMR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365760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Registo manual, com data, que pode ser corrigido ou apagado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Gráficos para ver a evolução de cada métrica ao longo do tempo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Pequenas explicações de cada métrica, em linguagem simples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comentário "A nossa opinião" sobre a evolução, escrito de forma simpática e sem julgar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4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Progresso: meta mensal e calendário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Captura de ecrã da app: calend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4592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os meses a utilizadora define a sua meta de dias de treino, com sugestões rápidas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anel mostra quantos dias já treinou face à meta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calendário marca os dias treinados, automaticamente a partir dos registos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Tocar num dia mostra os exercícios e as cargas desse dia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a meta é batida, há uma pequena festa com confetti e som</a:t>
            </a:r>
            <a:endParaRPr lang="en-US" sz="1500" dirty="0"/>
          </a:p>
        </p:txBody>
      </p:sp>
      <p:sp>
        <p:nvSpPr>
          <p:cNvPr id="8" name="Nota"/>
          <p:cNvSpPr/>
          <p:nvPr/>
        </p:nvSpPr>
        <p:spPr>
          <a:xfrm>
            <a:off x="640080" y="5257800"/>
            <a:ext cx="6583680" cy="914400"/>
          </a:xfrm>
          <a:prstGeom prst="roundRect">
            <a:avLst>
              <a:gd name="adj" fmla="val 22000"/>
            </a:avLst>
          </a:prstGeom>
          <a:solidFill>
            <a:srgbClr val="F5C6D8">
              <a:alpha val="6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fla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86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54406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comparações com meses anteriores: só factos, para motivar sem culpabilizar.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4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Progresso: o equilíbrio do treino num relance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Captura de ecrã da app: don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Gráfico donut por parte do corpo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20116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a percentagem de exercícios do mês por parte do corpo, a partir dos registos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exercício conta uma vez por dia, mesmo que seja registado várias vezes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legenda indica a percentagem e o número de exercícios de cada grupo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Aparece depois do calendário e sem número no centro, para ficar limpo</a:t>
            </a:r>
            <a:endParaRPr lang="en-US" sz="1500" dirty="0"/>
          </a:p>
        </p:txBody>
      </p:sp>
      <p:sp>
        <p:nvSpPr>
          <p:cNvPr id="9" name="Melhores cargas"/>
          <p:cNvSpPr/>
          <p:nvPr/>
        </p:nvSpPr>
        <p:spPr>
          <a:xfrm>
            <a:off x="4114800" y="4572000"/>
            <a:ext cx="7406640" cy="1554480"/>
          </a:xfrm>
          <a:prstGeom prst="roundRect">
            <a:avLst>
              <a:gd name="adj" fmla="val 12941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0" name="Ícone"/>
          <p:cNvSpPr/>
          <p:nvPr/>
        </p:nvSpPr>
        <p:spPr>
          <a:xfrm>
            <a:off x="4343400" y="48006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1" name="Image 1" descr="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159" y="49313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4754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carga de cada exercício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5166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 agrupada por parte do corpo, com a melhor carga e as repetições, e a data em que foi alcançada.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4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Progresso: mensagens que motivam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Captura de ecrã da app: progre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459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resumo do mês em linguagem simpática, a tratar a utilizadora pelo nome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os treinos já feitos, quantos faltam para a meta e os minutos de cardio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Destaca as cargas que subiram e propõe uma "próxima missão"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tom muda consoante o mês corre: de "o primeiro passo está dado" a "a caminho da dúzia"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Nunca compara com outras pessoas</a:t>
            </a:r>
            <a:endParaRPr lang="en-US" sz="1500" dirty="0"/>
          </a:p>
        </p:txBody>
      </p:sp>
      <p:sp>
        <p:nvSpPr>
          <p:cNvPr id="8" name="Nota"/>
          <p:cNvSpPr/>
          <p:nvPr/>
        </p:nvSpPr>
        <p:spPr>
          <a:xfrm>
            <a:off x="640080" y="5394960"/>
            <a:ext cx="6583680" cy="822960"/>
          </a:xfrm>
          <a:prstGeom prst="roundRect">
            <a:avLst>
              <a:gd name="adj" fmla="val 24444"/>
            </a:avLst>
          </a:prstGeom>
          <a:solidFill>
            <a:srgbClr val="D9CFF0">
              <a:alpha val="6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77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5623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3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Motivação com humor: o ginásio já é difícil o suficiente.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no Progresso: uma orientação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Captura de ecrã da app: cic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645920"/>
            <a:ext cx="7406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Calendário do mês com cada dia pintado pela cor da fase do ciclo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dias da janela fértil estimada têm um ponto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Opcional e privado: só aparece se a utilizadora preencher o perfil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Apresentado como orientação geral, nunca como previsão garantida de desempenho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Botão "A menstruação começou hoje" para acertar as previsões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Aviso quando há atraso face à data prevista</a:t>
            </a:r>
            <a:endParaRPr lang="en-US" sz="1500" dirty="0"/>
          </a:p>
        </p:txBody>
      </p:sp>
      <p:sp>
        <p:nvSpPr>
          <p:cNvPr id="8" name="Aviso"/>
          <p:cNvSpPr/>
          <p:nvPr/>
        </p:nvSpPr>
        <p:spPr>
          <a:xfrm>
            <a:off x="4114800" y="5394960"/>
            <a:ext cx="7406640" cy="822960"/>
          </a:xfrm>
          <a:prstGeom prst="roundRect">
            <a:avLst>
              <a:gd name="adj" fmla="val 24444"/>
            </a:avLst>
          </a:prstGeom>
          <a:solidFill>
            <a:srgbClr val="FBDCC4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inf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577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83480" y="5623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serve como método contracetivo e não substitui o acompanhamento médico.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Ao tocar num dia: o que esperar nesse 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Captura de ecrã da app: ciclo-detal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640080" y="164592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9595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 e fase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 do ciclo, fase e energia típica numa barra de bolinhas.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640080" y="274320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868680" y="2926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4" name="Image 2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30568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podes sentir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Sintomas e sensações habituais nessa fase.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640080" y="384048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868680" y="40233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9" name="Image 3" descr="dumb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15411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tipo de treino costuma resultar melhor.</a:t>
            </a:r>
            <a:endParaRPr lang="en-US" sz="1200" dirty="0"/>
          </a:p>
        </p:txBody>
      </p:sp>
      <p:sp>
        <p:nvSpPr>
          <p:cNvPr id="22" name="Cartão"/>
          <p:cNvSpPr/>
          <p:nvPr/>
        </p:nvSpPr>
        <p:spPr>
          <a:xfrm>
            <a:off x="640080" y="493776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3" name="Ícone"/>
          <p:cNvSpPr/>
          <p:nvPr/>
        </p:nvSpPr>
        <p:spPr>
          <a:xfrm>
            <a:off x="868680" y="512064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24" name="Image 4" descr="lea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525139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9164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 e dica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6916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ajuda e uma dica prática para o dia.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080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ainda a data prevista da próxima menstruação. Com contraceção hormonal ou ciclo irregular, avisa que as datas são só uma referência.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cinco fases e o que cada uma sugere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Fase"/>
          <p:cNvSpPr/>
          <p:nvPr/>
        </p:nvSpPr>
        <p:spPr>
          <a:xfrm>
            <a:off x="64008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Cor da fase"/>
          <p:cNvSpPr/>
          <p:nvPr/>
        </p:nvSpPr>
        <p:spPr>
          <a:xfrm>
            <a:off x="1280160" y="1874520"/>
            <a:ext cx="777240" cy="77724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pic>
        <p:nvPicPr>
          <p:cNvPr id="8" name="Image 0" descr="drop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0848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Menstruação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Energia baixa, cólicas em algumas pessoas. Treino leve: caminhar, yoga, alongar. Ferro e muita água.</a:t>
            </a:r>
            <a:endParaRPr lang="en-US" sz="1250" dirty="0"/>
          </a:p>
        </p:txBody>
      </p:sp>
      <p:sp>
        <p:nvSpPr>
          <p:cNvPr id="11" name="Fase"/>
          <p:cNvSpPr/>
          <p:nvPr/>
        </p:nvSpPr>
        <p:spPr>
          <a:xfrm>
            <a:off x="283464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Cor da fase"/>
          <p:cNvSpPr/>
          <p:nvPr/>
        </p:nvSpPr>
        <p:spPr>
          <a:xfrm>
            <a:off x="3474720" y="1874520"/>
            <a:ext cx="777240" cy="777240"/>
          </a:xfrm>
          <a:prstGeom prst="ellipse">
            <a:avLst/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</p:spPr>
      </p:sp>
      <p:pic>
        <p:nvPicPr>
          <p:cNvPr id="13" name="Image 1" descr="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20848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7180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folicular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7180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Energia e motivação a subir. Boa altura para treinos intensos, cargas pesadas e recordes.</a:t>
            </a:r>
            <a:endParaRPr lang="en-US" sz="1250" dirty="0"/>
          </a:p>
        </p:txBody>
      </p:sp>
      <p:sp>
        <p:nvSpPr>
          <p:cNvPr id="16" name="Fase"/>
          <p:cNvSpPr/>
          <p:nvPr/>
        </p:nvSpPr>
        <p:spPr>
          <a:xfrm>
            <a:off x="502920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Cor da fase"/>
          <p:cNvSpPr/>
          <p:nvPr/>
        </p:nvSpPr>
        <p:spPr>
          <a:xfrm>
            <a:off x="5669280" y="1874520"/>
            <a:ext cx="777240" cy="777240"/>
          </a:xfrm>
          <a:prstGeom prst="ellipse">
            <a:avLst/>
          </a:prstGeom>
          <a:solidFill>
            <a:srgbClr val="FBD58A"/>
          </a:solidFill>
          <a:ln w="12700">
            <a:solidFill>
              <a:srgbClr val="FBD58A">
                <a:alpha val="0"/>
              </a:srgbClr>
            </a:solidFill>
            <a:prstDash val="solid"/>
          </a:ln>
        </p:spPr>
      </p:sp>
      <p:pic>
        <p:nvPicPr>
          <p:cNvPr id="18" name="Image 2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0848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6636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Ovulação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16636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Pico de energia. Treino intenso, com aquecimento e cuidado com a técnica nos joelhos.</a:t>
            </a:r>
            <a:endParaRPr lang="en-US" sz="1250" dirty="0"/>
          </a:p>
        </p:txBody>
      </p:sp>
      <p:sp>
        <p:nvSpPr>
          <p:cNvPr id="21" name="Fase"/>
          <p:cNvSpPr/>
          <p:nvPr/>
        </p:nvSpPr>
        <p:spPr>
          <a:xfrm>
            <a:off x="722376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Cor da fase"/>
          <p:cNvSpPr/>
          <p:nvPr/>
        </p:nvSpPr>
        <p:spPr>
          <a:xfrm>
            <a:off x="7863840" y="1874520"/>
            <a:ext cx="777240" cy="777240"/>
          </a:xfrm>
          <a:prstGeom prst="ellipse">
            <a:avLst/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3" name="Image 3" descr="drop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0848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lútea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Apetite um pouco maior e energia estável. Força moderada e cardio constante.</a:t>
            </a:r>
            <a:endParaRPr lang="en-US" sz="1250" dirty="0"/>
          </a:p>
        </p:txBody>
      </p:sp>
      <p:sp>
        <p:nvSpPr>
          <p:cNvPr id="26" name="Fase"/>
          <p:cNvSpPr/>
          <p:nvPr/>
        </p:nvSpPr>
        <p:spPr>
          <a:xfrm>
            <a:off x="941832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Cor da fase"/>
          <p:cNvSpPr/>
          <p:nvPr/>
        </p:nvSpPr>
        <p:spPr>
          <a:xfrm>
            <a:off x="10058400" y="1874520"/>
            <a:ext cx="777240" cy="777240"/>
          </a:xfrm>
          <a:prstGeom prst="ellipse">
            <a:avLst/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</p:spPr>
      </p:sp>
      <p:pic>
        <p:nvPicPr>
          <p:cNvPr id="28" name="Image 4" descr="dropl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208483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55548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Pré-menstrual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55548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Inchaço e humor sensível. Treinos moderados, menos sal, mais água e magnésio.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Informação geral, que pode variar de pessoa para pessoa e de mês para mês.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5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Perfil: privado e opcional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Captura de ecrã da app: perf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645920"/>
            <a:ext cx="7406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 próprio e apelido: o nome próprio passa a aparecer no cabeçalho da app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Género (Feminino ou Outro) e data de nascimento, com a idade calculada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Cartão "O meu objetivo", que explica o que o objetivo significa para o treino e para a alimentação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os dados são guardados na conta da utilizadora e só ela os vê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como última aba: os dados pessoais são secundários ao treino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5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Perfil: o formulário do ciclo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pic>
        <p:nvPicPr>
          <p:cNvPr id="6" name="Image 0" descr="Captura de ecrã da app: perfil-cic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Situação"/>
          <p:cNvSpPr/>
          <p:nvPr/>
        </p:nvSpPr>
        <p:spPr>
          <a:xfrm>
            <a:off x="640080" y="1645920"/>
            <a:ext cx="6583680" cy="1371600"/>
          </a:xfrm>
          <a:prstGeom prst="roundRect">
            <a:avLst>
              <a:gd name="adj" fmla="val 1466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20116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9" name="Image 1" descr="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15249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1755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Tenho ciclo menstrual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737360" y="21488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Última menstruação, duração do ciclo (21 a 45 dias), dias de menstruação, contraceção hormonal e ciclo irregular.</a:t>
            </a:r>
            <a:endParaRPr lang="en-US" sz="1200" dirty="0"/>
          </a:p>
        </p:txBody>
      </p:sp>
      <p:sp>
        <p:nvSpPr>
          <p:cNvPr id="12" name="Situação"/>
          <p:cNvSpPr/>
          <p:nvPr/>
        </p:nvSpPr>
        <p:spPr>
          <a:xfrm>
            <a:off x="640080" y="3154680"/>
            <a:ext cx="6583680" cy="1371600"/>
          </a:xfrm>
          <a:prstGeom prst="roundRect">
            <a:avLst>
              <a:gd name="adj" fmla="val 1466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868680" y="35204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4" name="Image 2" descr="us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366125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3264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 grávida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737360" y="36576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 a última menstruação e a app calcula as semanas e a data prevista do parto, mostrando o trimestre.</a:t>
            </a:r>
            <a:endParaRPr lang="en-US" sz="1200" dirty="0"/>
          </a:p>
        </p:txBody>
      </p:sp>
      <p:sp>
        <p:nvSpPr>
          <p:cNvPr id="17" name="Situação"/>
          <p:cNvSpPr/>
          <p:nvPr/>
        </p:nvSpPr>
        <p:spPr>
          <a:xfrm>
            <a:off x="640080" y="4663440"/>
            <a:ext cx="6583680" cy="1371600"/>
          </a:xfrm>
          <a:prstGeom prst="roundRect">
            <a:avLst>
              <a:gd name="adj" fmla="val 1466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868680" y="50292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9" name="Image 3" descr="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5170018"/>
            <a:ext cx="358445" cy="35844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37360" y="4773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não tenho menstruação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737360" y="51663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app não mostra fases do ciclo, e sugere falar com o médico se for inesperado.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6217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Durante a gravidez, a app não mostra fases do ciclo como se decorresse normalmente.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IDENTIDADE VISUAL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Feminina, divertida e aesthetic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Paleta</a:t>
            </a:r>
            <a:endParaRPr lang="en-US" sz="1600" dirty="0"/>
          </a:p>
        </p:txBody>
      </p:sp>
      <p:sp>
        <p:nvSpPr>
          <p:cNvPr id="7" name="Amostra"/>
          <p:cNvSpPr/>
          <p:nvPr/>
        </p:nvSpPr>
        <p:spPr>
          <a:xfrm>
            <a:off x="822960" y="2423160"/>
            <a:ext cx="1005840" cy="1005840"/>
          </a:xfrm>
          <a:prstGeom prst="ellipse">
            <a:avLst/>
          </a:prstGeom>
          <a:solidFill>
            <a:srgbClr val="F5C6D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#F5C6D8</a:t>
            </a:r>
            <a:endParaRPr lang="en-US" sz="1000" dirty="0"/>
          </a:p>
        </p:txBody>
      </p:sp>
      <p:sp>
        <p:nvSpPr>
          <p:cNvPr id="10" name="Amostra"/>
          <p:cNvSpPr/>
          <p:nvPr/>
        </p:nvSpPr>
        <p:spPr>
          <a:xfrm>
            <a:off x="2377440" y="2423160"/>
            <a:ext cx="1005840" cy="1005840"/>
          </a:xfrm>
          <a:prstGeom prst="ellipse">
            <a:avLst/>
          </a:prstGeom>
          <a:solidFill>
            <a:srgbClr val="B5798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945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 escuro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#B5798E</a:t>
            </a:r>
            <a:endParaRPr lang="en-US" sz="1000" dirty="0"/>
          </a:p>
        </p:txBody>
      </p:sp>
      <p:sp>
        <p:nvSpPr>
          <p:cNvPr id="13" name="Amostra"/>
          <p:cNvSpPr/>
          <p:nvPr/>
        </p:nvSpPr>
        <p:spPr>
          <a:xfrm>
            <a:off x="3931920" y="2423160"/>
            <a:ext cx="1005840" cy="1005840"/>
          </a:xfrm>
          <a:prstGeom prst="ellipse">
            <a:avLst/>
          </a:prstGeom>
          <a:solidFill>
            <a:srgbClr val="9C5F7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490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 profundo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#9C5F76</a:t>
            </a:r>
            <a:endParaRPr lang="en-US" sz="1000" dirty="0"/>
          </a:p>
        </p:txBody>
      </p:sp>
      <p:sp>
        <p:nvSpPr>
          <p:cNvPr id="16" name="Amostra"/>
          <p:cNvSpPr/>
          <p:nvPr/>
        </p:nvSpPr>
        <p:spPr>
          <a:xfrm>
            <a:off x="5486400" y="2423160"/>
            <a:ext cx="1005840" cy="1005840"/>
          </a:xfrm>
          <a:prstGeom prst="ellipse">
            <a:avLst/>
          </a:prstGeom>
          <a:solidFill>
            <a:srgbClr val="D9CF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Lilás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#D9CFF0</a:t>
            </a:r>
            <a:endParaRPr lang="en-US" sz="1000" dirty="0"/>
          </a:p>
        </p:txBody>
      </p:sp>
      <p:sp>
        <p:nvSpPr>
          <p:cNvPr id="19" name="Amostra"/>
          <p:cNvSpPr/>
          <p:nvPr/>
        </p:nvSpPr>
        <p:spPr>
          <a:xfrm>
            <a:off x="7040880" y="2423160"/>
            <a:ext cx="1005840" cy="1005840"/>
          </a:xfrm>
          <a:prstGeom prst="ellipse">
            <a:avLst/>
          </a:prstGeom>
          <a:solidFill>
            <a:srgbClr val="C6E8DC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#C6E8DC</a:t>
            </a:r>
            <a:endParaRPr lang="en-US" sz="1000" dirty="0"/>
          </a:p>
        </p:txBody>
      </p:sp>
      <p:sp>
        <p:nvSpPr>
          <p:cNvPr id="22" name="Amostra"/>
          <p:cNvSpPr/>
          <p:nvPr/>
        </p:nvSpPr>
        <p:spPr>
          <a:xfrm>
            <a:off x="8595360" y="2423160"/>
            <a:ext cx="1005840" cy="1005840"/>
          </a:xfrm>
          <a:prstGeom prst="ellipse">
            <a:avLst/>
          </a:prstGeom>
          <a:solidFill>
            <a:srgbClr val="FBDCC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Pêssego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#FBDCC4</a:t>
            </a:r>
            <a:endParaRPr lang="en-US" sz="1000" dirty="0"/>
          </a:p>
        </p:txBody>
      </p:sp>
      <p:sp>
        <p:nvSpPr>
          <p:cNvPr id="25" name="Amostra"/>
          <p:cNvSpPr/>
          <p:nvPr/>
        </p:nvSpPr>
        <p:spPr>
          <a:xfrm>
            <a:off x="10149840" y="2423160"/>
            <a:ext cx="1005840" cy="1005840"/>
          </a:xfrm>
          <a:prstGeom prst="ellipse">
            <a:avLst/>
          </a:prstGeom>
          <a:solidFill>
            <a:srgbClr val="4A3B4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9669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Tinta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#4A3B4A</a:t>
            </a:r>
            <a:endParaRPr lang="en-US" sz="1000" dirty="0"/>
          </a:p>
        </p:txBody>
      </p:sp>
      <p:sp>
        <p:nvSpPr>
          <p:cNvPr id="28" name="Tipografia"/>
          <p:cNvSpPr/>
          <p:nvPr/>
        </p:nvSpPr>
        <p:spPr>
          <a:xfrm>
            <a:off x="640080" y="4206240"/>
            <a:ext cx="5303520" cy="2103120"/>
          </a:xfrm>
          <a:prstGeom prst="roundRect">
            <a:avLst>
              <a:gd name="adj" fmla="val 9565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Tipografia: Poppins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 Bb Cc 123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Arredondada e amigável, em quatro pesos: normal, médio, seminegrito e negrito.</a:t>
            </a:r>
            <a:endParaRPr lang="en-US" sz="1250" dirty="0"/>
          </a:p>
        </p:txBody>
      </p:sp>
      <p:sp>
        <p:nvSpPr>
          <p:cNvPr id="32" name="Ícones"/>
          <p:cNvSpPr/>
          <p:nvPr/>
        </p:nvSpPr>
        <p:spPr>
          <a:xfrm>
            <a:off x="6217920" y="4206240"/>
            <a:ext cx="5303520" cy="2103120"/>
          </a:xfrm>
          <a:prstGeom prst="roundRect">
            <a:avLst>
              <a:gd name="adj" fmla="val 9565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Ícones de linha</a:t>
            </a:r>
            <a:endParaRPr lang="en-US" sz="1600" dirty="0"/>
          </a:p>
        </p:txBody>
      </p:sp>
      <p:sp>
        <p:nvSpPr>
          <p:cNvPr id="34" name="Ícone"/>
          <p:cNvSpPr/>
          <p:nvPr/>
        </p:nvSpPr>
        <p:spPr>
          <a:xfrm>
            <a:off x="649224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5" name="Image 0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4839919"/>
            <a:ext cx="332842" cy="332842"/>
          </a:xfrm>
          <a:prstGeom prst="rect">
            <a:avLst/>
          </a:prstGeom>
        </p:spPr>
      </p:pic>
      <p:sp>
        <p:nvSpPr>
          <p:cNvPr id="36" name="Ícone"/>
          <p:cNvSpPr/>
          <p:nvPr/>
        </p:nvSpPr>
        <p:spPr>
          <a:xfrm>
            <a:off x="745236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7" name="Image 1" descr="lea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19" y="4839919"/>
            <a:ext cx="332842" cy="332842"/>
          </a:xfrm>
          <a:prstGeom prst="rect">
            <a:avLst/>
          </a:prstGeom>
        </p:spPr>
      </p:pic>
      <p:sp>
        <p:nvSpPr>
          <p:cNvPr id="38" name="Ícone"/>
          <p:cNvSpPr/>
          <p:nvPr/>
        </p:nvSpPr>
        <p:spPr>
          <a:xfrm>
            <a:off x="841248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9" name="Image 2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239" y="4839919"/>
            <a:ext cx="332842" cy="332842"/>
          </a:xfrm>
          <a:prstGeom prst="rect">
            <a:avLst/>
          </a:prstGeom>
        </p:spPr>
      </p:pic>
      <p:sp>
        <p:nvSpPr>
          <p:cNvPr id="40" name="Ícone"/>
          <p:cNvSpPr/>
          <p:nvPr/>
        </p:nvSpPr>
        <p:spPr>
          <a:xfrm>
            <a:off x="937260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1" name="Image 3" descr="tr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3359" y="4839919"/>
            <a:ext cx="332842" cy="332842"/>
          </a:xfrm>
          <a:prstGeom prst="rect">
            <a:avLst/>
          </a:prstGeom>
        </p:spPr>
      </p:pic>
      <p:sp>
        <p:nvSpPr>
          <p:cNvPr id="42" name="Ícone"/>
          <p:cNvSpPr/>
          <p:nvPr/>
        </p:nvSpPr>
        <p:spPr>
          <a:xfrm>
            <a:off x="1033272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3" name="Image 4" descr="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3479" y="4839919"/>
            <a:ext cx="332842" cy="332842"/>
          </a:xfrm>
          <a:prstGeom prst="rect">
            <a:avLst/>
          </a:prstGeom>
        </p:spPr>
      </p:pic>
      <p:sp>
        <p:nvSpPr>
          <p:cNvPr id="44" name="Ícone"/>
          <p:cNvSpPr/>
          <p:nvPr/>
        </p:nvSpPr>
        <p:spPr>
          <a:xfrm>
            <a:off x="649224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5" name="Image 5" descr="dropl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999" y="5571439"/>
            <a:ext cx="332842" cy="332842"/>
          </a:xfrm>
          <a:prstGeom prst="rect">
            <a:avLst/>
          </a:prstGeom>
        </p:spPr>
      </p:pic>
      <p:sp>
        <p:nvSpPr>
          <p:cNvPr id="46" name="Ícone"/>
          <p:cNvSpPr/>
          <p:nvPr/>
        </p:nvSpPr>
        <p:spPr>
          <a:xfrm>
            <a:off x="745236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7" name="Image 6" descr="targe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119" y="5571439"/>
            <a:ext cx="332842" cy="332842"/>
          </a:xfrm>
          <a:prstGeom prst="rect">
            <a:avLst/>
          </a:prstGeom>
        </p:spPr>
      </p:pic>
      <p:sp>
        <p:nvSpPr>
          <p:cNvPr id="48" name="Ícone"/>
          <p:cNvSpPr/>
          <p:nvPr/>
        </p:nvSpPr>
        <p:spPr>
          <a:xfrm>
            <a:off x="841248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9" name="Image 7" descr="st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3239" y="5571439"/>
            <a:ext cx="332842" cy="332842"/>
          </a:xfrm>
          <a:prstGeom prst="rect">
            <a:avLst/>
          </a:prstGeom>
        </p:spPr>
      </p:pic>
      <p:sp>
        <p:nvSpPr>
          <p:cNvPr id="50" name="Ícone"/>
          <p:cNvSpPr/>
          <p:nvPr/>
        </p:nvSpPr>
        <p:spPr>
          <a:xfrm>
            <a:off x="937260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51" name="Image 8" descr="flam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3359" y="5571439"/>
            <a:ext cx="332842" cy="332842"/>
          </a:xfrm>
          <a:prstGeom prst="rect">
            <a:avLst/>
          </a:prstGeom>
        </p:spPr>
      </p:pic>
      <p:sp>
        <p:nvSpPr>
          <p:cNvPr id="52" name="Ícone"/>
          <p:cNvSpPr/>
          <p:nvPr/>
        </p:nvSpPr>
        <p:spPr>
          <a:xfrm>
            <a:off x="1033272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53" name="Image 9" descr="sparkle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3479" y="5571439"/>
            <a:ext cx="332842" cy="33284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492240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mesmos ícones da app, em traço fino e cantos arredondados.</a:t>
            </a:r>
            <a:endParaRPr lang="en-US" sz="1050" dirty="0"/>
          </a:p>
        </p:txBody>
      </p:sp>
      <p:sp>
        <p:nvSpPr>
          <p:cNvPr id="55" name="Text 4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Fundo "aurora" com manchas suaves, cartões de vidro, cantos arredondados, elementos visuais e sonoros. O contrário das apps de fitness técnicas e intimidantes.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DE UX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decisão teve uma razão (1/2)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Decisão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783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19138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só app, treino isolado por pessoa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Evita várias apps para manter e garante que ninguém vê o treino da outra.</a:t>
            </a:r>
            <a:endParaRPr lang="en-US" sz="1150" dirty="0"/>
          </a:p>
        </p:txBody>
      </p:sp>
      <p:sp>
        <p:nvSpPr>
          <p:cNvPr id="11" name="Etiqueta"/>
          <p:cNvSpPr/>
          <p:nvPr/>
        </p:nvSpPr>
        <p:spPr>
          <a:xfrm>
            <a:off x="6766560" y="17373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Apps separadas</a:t>
            </a:r>
            <a:endParaRPr lang="en-US" sz="1100" dirty="0"/>
          </a:p>
        </p:txBody>
      </p:sp>
      <p:sp>
        <p:nvSpPr>
          <p:cNvPr id="13" name="Etiqueta"/>
          <p:cNvSpPr/>
          <p:nvPr/>
        </p:nvSpPr>
        <p:spPr>
          <a:xfrm>
            <a:off x="6766560" y="2130552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2130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Um login por pessoa, com o plano certo</a:t>
            </a:r>
            <a:endParaRPr lang="en-US" sz="1100" dirty="0"/>
          </a:p>
        </p:txBody>
      </p:sp>
      <p:sp>
        <p:nvSpPr>
          <p:cNvPr id="15" name="Decisão"/>
          <p:cNvSpPr/>
          <p:nvPr/>
        </p:nvSpPr>
        <p:spPr>
          <a:xfrm>
            <a:off x="640080" y="2724912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6" name="Ícone"/>
          <p:cNvSpPr/>
          <p:nvPr/>
        </p:nvSpPr>
        <p:spPr>
          <a:xfrm>
            <a:off x="868680" y="295351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7" name="Image 1" descr="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084271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9164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Sessão que se mantém aberta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3182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Pedir a palavra-passe sempre que se abre a app no ginásio irrita.</a:t>
            </a:r>
            <a:endParaRPr lang="en-US" sz="1150" dirty="0"/>
          </a:p>
        </p:txBody>
      </p:sp>
      <p:sp>
        <p:nvSpPr>
          <p:cNvPr id="20" name="Etiqueta"/>
          <p:cNvSpPr/>
          <p:nvPr/>
        </p:nvSpPr>
        <p:spPr>
          <a:xfrm>
            <a:off x="6766560" y="290779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0" y="2907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Login a cada abertura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6766560" y="3300984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66560" y="33009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Só se sair voluntariamente</a:t>
            </a:r>
            <a:endParaRPr lang="en-US" sz="1100" dirty="0"/>
          </a:p>
        </p:txBody>
      </p:sp>
      <p:sp>
        <p:nvSpPr>
          <p:cNvPr id="24" name="Decisão"/>
          <p:cNvSpPr/>
          <p:nvPr/>
        </p:nvSpPr>
        <p:spPr>
          <a:xfrm>
            <a:off x="640080" y="3895344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Ícone"/>
          <p:cNvSpPr/>
          <p:nvPr/>
        </p:nvSpPr>
        <p:spPr>
          <a:xfrm>
            <a:off x="868680" y="4123944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6" name="Image 2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254703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69164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Novo nome e tom bem-humorado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691640" y="43525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 personalidade e leveza ao que pode ser culpabilizante.</a:t>
            </a:r>
            <a:endParaRPr lang="en-US" sz="1150" dirty="0"/>
          </a:p>
        </p:txBody>
      </p:sp>
      <p:sp>
        <p:nvSpPr>
          <p:cNvPr id="29" name="Etiqueta"/>
          <p:cNvSpPr/>
          <p:nvPr/>
        </p:nvSpPr>
        <p:spPr>
          <a:xfrm>
            <a:off x="6766560" y="407822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766560" y="4078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Plano Treino</a:t>
            </a:r>
            <a:endParaRPr lang="en-US" sz="1100" dirty="0"/>
          </a:p>
        </p:txBody>
      </p:sp>
      <p:sp>
        <p:nvSpPr>
          <p:cNvPr id="31" name="Etiqueta"/>
          <p:cNvSpPr/>
          <p:nvPr/>
        </p:nvSpPr>
        <p:spPr>
          <a:xfrm>
            <a:off x="6766560" y="4471416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44714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Just Butts (NIJB)</a:t>
            </a:r>
            <a:endParaRPr lang="en-US" sz="1100" dirty="0"/>
          </a:p>
        </p:txBody>
      </p:sp>
      <p:sp>
        <p:nvSpPr>
          <p:cNvPr id="33" name="Decisão"/>
          <p:cNvSpPr/>
          <p:nvPr/>
        </p:nvSpPr>
        <p:spPr>
          <a:xfrm>
            <a:off x="640080" y="5065776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4" name="Ícone"/>
          <p:cNvSpPr/>
          <p:nvPr/>
        </p:nvSpPr>
        <p:spPr>
          <a:xfrm>
            <a:off x="868680" y="5294376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5" name="Image 3" descr="us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5425135"/>
            <a:ext cx="332842" cy="33284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691640" y="5157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como última aba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1691640" y="55229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dados pessoais são secundários ao treino.</a:t>
            </a:r>
            <a:endParaRPr lang="en-US" sz="1150" dirty="0"/>
          </a:p>
        </p:txBody>
      </p:sp>
      <p:sp>
        <p:nvSpPr>
          <p:cNvPr id="38" name="Etiqueta"/>
          <p:cNvSpPr/>
          <p:nvPr/>
        </p:nvSpPr>
        <p:spPr>
          <a:xfrm>
            <a:off x="6766560" y="524865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766560" y="52486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Perfil em 3.º lugar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6766560" y="5641848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766560" y="5641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Perfil em último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DE UX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decisão teve uma razão (2/2)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Decisão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783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tr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19138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 por parte do corpo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Mostrar o equilíbrio do treino de forma visual, a seguir ao calendário.</a:t>
            </a:r>
            <a:endParaRPr lang="en-US" sz="1150" dirty="0"/>
          </a:p>
        </p:txBody>
      </p:sp>
      <p:sp>
        <p:nvSpPr>
          <p:cNvPr id="11" name="Etiqueta"/>
          <p:cNvSpPr/>
          <p:nvPr/>
        </p:nvSpPr>
        <p:spPr>
          <a:xfrm>
            <a:off x="6766560" y="173736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Sem gráfico</a:t>
            </a:r>
            <a:endParaRPr lang="en-US" sz="1100" dirty="0"/>
          </a:p>
        </p:txBody>
      </p:sp>
      <p:sp>
        <p:nvSpPr>
          <p:cNvPr id="13" name="Etiqueta"/>
          <p:cNvSpPr/>
          <p:nvPr/>
        </p:nvSpPr>
        <p:spPr>
          <a:xfrm>
            <a:off x="6766560" y="2130552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2130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Donut com a % de exercícios</a:t>
            </a:r>
            <a:endParaRPr lang="en-US" sz="1100" dirty="0"/>
          </a:p>
        </p:txBody>
      </p:sp>
      <p:sp>
        <p:nvSpPr>
          <p:cNvPr id="15" name="Decisão"/>
          <p:cNvSpPr/>
          <p:nvPr/>
        </p:nvSpPr>
        <p:spPr>
          <a:xfrm>
            <a:off x="640080" y="2724912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6" name="Ícone"/>
          <p:cNvSpPr/>
          <p:nvPr/>
        </p:nvSpPr>
        <p:spPr>
          <a:xfrm>
            <a:off x="868680" y="295351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7" name="Image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084271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9164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exercício conta uma vez por dia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3182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contagem tem de bater com a perceção da utilizadora.</a:t>
            </a:r>
            <a:endParaRPr lang="en-US" sz="1150" dirty="0"/>
          </a:p>
        </p:txBody>
      </p:sp>
      <p:sp>
        <p:nvSpPr>
          <p:cNvPr id="20" name="Etiqueta"/>
          <p:cNvSpPr/>
          <p:nvPr/>
        </p:nvSpPr>
        <p:spPr>
          <a:xfrm>
            <a:off x="6766560" y="290779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0" y="2907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3 exercícios contados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6766560" y="3300984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66560" y="3300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2 exercícios (corrigido)</a:t>
            </a:r>
            <a:endParaRPr lang="en-US" sz="1100" dirty="0"/>
          </a:p>
        </p:txBody>
      </p:sp>
      <p:sp>
        <p:nvSpPr>
          <p:cNvPr id="24" name="Decisão"/>
          <p:cNvSpPr/>
          <p:nvPr/>
        </p:nvSpPr>
        <p:spPr>
          <a:xfrm>
            <a:off x="640080" y="3895344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Ícone"/>
          <p:cNvSpPr/>
          <p:nvPr/>
        </p:nvSpPr>
        <p:spPr>
          <a:xfrm>
            <a:off x="868680" y="4123944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6" name="Image 2" descr="min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254703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69164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 sem número no centro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691640" y="43525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ruído: o gráfico já diz o essencial.</a:t>
            </a:r>
            <a:endParaRPr lang="en-US" sz="1150" dirty="0"/>
          </a:p>
        </p:txBody>
      </p:sp>
      <p:sp>
        <p:nvSpPr>
          <p:cNvPr id="29" name="Etiqueta"/>
          <p:cNvSpPr/>
          <p:nvPr/>
        </p:nvSpPr>
        <p:spPr>
          <a:xfrm>
            <a:off x="6766560" y="4078224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766560" y="4078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Número no centro</a:t>
            </a:r>
            <a:endParaRPr lang="en-US" sz="1100" dirty="0"/>
          </a:p>
        </p:txBody>
      </p:sp>
      <p:sp>
        <p:nvSpPr>
          <p:cNvPr id="31" name="Etiqueta"/>
          <p:cNvSpPr/>
          <p:nvPr/>
        </p:nvSpPr>
        <p:spPr>
          <a:xfrm>
            <a:off x="6766560" y="4471416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44714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Centro limpo</a:t>
            </a:r>
            <a:endParaRPr lang="en-US" sz="1100" dirty="0"/>
          </a:p>
        </p:txBody>
      </p:sp>
      <p:sp>
        <p:nvSpPr>
          <p:cNvPr id="33" name="Decisão"/>
          <p:cNvSpPr/>
          <p:nvPr/>
        </p:nvSpPr>
        <p:spPr>
          <a:xfrm>
            <a:off x="640080" y="5065776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4" name="Ícone"/>
          <p:cNvSpPr/>
          <p:nvPr/>
        </p:nvSpPr>
        <p:spPr>
          <a:xfrm>
            <a:off x="868680" y="5294376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5" name="Image 3" descr="drop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5425135"/>
            <a:ext cx="332842" cy="33284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691640" y="5157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 no Progresso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1691640" y="55229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Ligar o treino à energia ao longo do mês, com sugestões por fase.</a:t>
            </a:r>
            <a:endParaRPr lang="en-US" sz="1150" dirty="0"/>
          </a:p>
        </p:txBody>
      </p:sp>
      <p:sp>
        <p:nvSpPr>
          <p:cNvPr id="38" name="Etiqueta"/>
          <p:cNvSpPr/>
          <p:nvPr/>
        </p:nvSpPr>
        <p:spPr>
          <a:xfrm>
            <a:off x="6766560" y="5248656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766560" y="5248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Sem informação do ciclo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6766560" y="5641848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766560" y="5641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Calendário por fases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PROCESSO E A IA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meu papel e o da 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Eu"/>
          <p:cNvSpPr/>
          <p:nvPr/>
        </p:nvSpPr>
        <p:spPr>
          <a:xfrm>
            <a:off x="640080" y="1554480"/>
            <a:ext cx="6126480" cy="4297680"/>
          </a:xfrm>
          <a:prstGeom prst="roundRect">
            <a:avLst>
              <a:gd name="adj" fmla="val 4681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914400" y="17830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8" y="19238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fiz eu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974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Identifiquei o problema e as dificuldades de quem treina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 objetivos, funcionalidades e organização da informação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Tomei as decisões de UX, de conteúdo e de tom de voz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Testei cada versão no telemóvel e rejeitei ideias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Recolhi feedback das utilizadoras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Geri o projeto: base de dados, publicação e instalação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 a regra: o treino de uma pessoa nunca interfere com o das outras</a:t>
            </a:r>
            <a:endParaRPr lang="en-US" sz="1350" dirty="0"/>
          </a:p>
        </p:txBody>
      </p:sp>
      <p:sp>
        <p:nvSpPr>
          <p:cNvPr id="11" name="IA"/>
          <p:cNvSpPr/>
          <p:nvPr/>
        </p:nvSpPr>
        <p:spPr>
          <a:xfrm>
            <a:off x="7040880" y="1554480"/>
            <a:ext cx="4480560" cy="4297680"/>
          </a:xfrm>
          <a:prstGeom prst="roundRect">
            <a:avLst>
              <a:gd name="adj" fmla="val 4681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7315200" y="17830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3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018" y="19238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8388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fez a IA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26974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Escreveu e testou o código (HTML, CSS e JavaScript) e a base de dados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Propôs soluções quando lhe pedi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 escolhi e corrigi o rumo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experiência em código, o meu valor esteve em perguntar o que as utilizadoras precisam, decidir o que fica e o que sai, e perceber quando algo não está bem.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dizem as utilizadoras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stemunho"/>
          <p:cNvSpPr/>
          <p:nvPr/>
        </p:nvSpPr>
        <p:spPr>
          <a:xfrm>
            <a:off x="640080" y="164592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Aspas"/>
          <p:cNvSpPr/>
          <p:nvPr/>
        </p:nvSpPr>
        <p:spPr>
          <a:xfrm>
            <a:off x="868680" y="187452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8745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mudou a minha forma de ver o ginásio, agora já não é um bicho de 7 cabeças!</a:t>
            </a:r>
            <a:endParaRPr lang="en-US" sz="1600" dirty="0"/>
          </a:p>
        </p:txBody>
      </p:sp>
      <p:sp>
        <p:nvSpPr>
          <p:cNvPr id="10" name="Testemunho"/>
          <p:cNvSpPr/>
          <p:nvPr/>
        </p:nvSpPr>
        <p:spPr>
          <a:xfrm>
            <a:off x="6126480" y="164592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1" name="Aspas"/>
          <p:cNvSpPr/>
          <p:nvPr/>
        </p:nvSpPr>
        <p:spPr>
          <a:xfrm>
            <a:off x="6355080" y="187452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8745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quase que só tenho que me preocupar em executar bem os exercícios... sei o que fazer todos os dias e com facilidade.</a:t>
            </a:r>
            <a:endParaRPr lang="en-US" sz="1600" dirty="0"/>
          </a:p>
        </p:txBody>
      </p:sp>
      <p:sp>
        <p:nvSpPr>
          <p:cNvPr id="14" name="Testemunho"/>
          <p:cNvSpPr/>
          <p:nvPr/>
        </p:nvSpPr>
        <p:spPr>
          <a:xfrm>
            <a:off x="640080" y="388620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5" name="Aspas"/>
          <p:cNvSpPr/>
          <p:nvPr/>
        </p:nvSpPr>
        <p:spPr>
          <a:xfrm>
            <a:off x="868680" y="411480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148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Sinto-me mais motivada para ir ao ginásio com uma app tão bonita!</a:t>
            </a:r>
            <a:endParaRPr lang="en-US" sz="1600" dirty="0"/>
          </a:p>
        </p:txBody>
      </p:sp>
      <p:sp>
        <p:nvSpPr>
          <p:cNvPr id="18" name="Testemunho"/>
          <p:cNvSpPr/>
          <p:nvPr/>
        </p:nvSpPr>
        <p:spPr>
          <a:xfrm>
            <a:off x="6126480" y="388620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9" name="Aspas"/>
          <p:cNvSpPr/>
          <p:nvPr/>
        </p:nvSpPr>
        <p:spPr>
          <a:xfrm>
            <a:off x="6355080" y="411480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1148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life changer!!!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mulheres entre os 25 e os 65 anos usaram a app. Testemunhos reais, com a ortografia corrigida.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iniciais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Resultado"/>
          <p:cNvSpPr/>
          <p:nvPr/>
        </p:nvSpPr>
        <p:spPr>
          <a:xfrm>
            <a:off x="6400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0253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Organização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treinos já estão planeados.</a:t>
            </a:r>
            <a:endParaRPr lang="en-US" sz="1400" dirty="0"/>
          </a:p>
        </p:txBody>
      </p:sp>
      <p:sp>
        <p:nvSpPr>
          <p:cNvPr id="11" name="Resultado"/>
          <p:cNvSpPr/>
          <p:nvPr/>
        </p:nvSpPr>
        <p:spPr>
          <a:xfrm>
            <a:off x="33832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36118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20253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Eficiência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Sabem qual é o exercício seguinte e que carga usar.</a:t>
            </a:r>
            <a:endParaRPr lang="en-US" sz="1400" dirty="0"/>
          </a:p>
        </p:txBody>
      </p:sp>
      <p:sp>
        <p:nvSpPr>
          <p:cNvPr id="16" name="Resultado"/>
          <p:cNvSpPr/>
          <p:nvPr/>
        </p:nvSpPr>
        <p:spPr>
          <a:xfrm>
            <a:off x="61264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63550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18" name="Image 2" descr="tr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20253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Motivação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Progresso ajuda a treinar com mais propósito.</a:t>
            </a:r>
            <a:endParaRPr lang="en-US" sz="1400" dirty="0"/>
          </a:p>
        </p:txBody>
      </p:sp>
      <p:sp>
        <p:nvSpPr>
          <p:cNvPr id="21" name="Resultado"/>
          <p:cNvSpPr/>
          <p:nvPr/>
        </p:nvSpPr>
        <p:spPr>
          <a:xfrm>
            <a:off x="88696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90982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3" name="Image 3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56" y="202539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982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Experiência visual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0982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estética foi referida como fator positivo.</a:t>
            </a:r>
            <a:endParaRPr lang="en-US" sz="1400" dirty="0"/>
          </a:p>
        </p:txBody>
      </p:sp>
      <p:sp>
        <p:nvSpPr>
          <p:cNvPr id="26" name="Nota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20000"/>
            </a:avLst>
          </a:prstGeom>
          <a:solidFill>
            <a:srgbClr val="FBDCC4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27" name="Image 4" descr="in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406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45920" y="5303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São resultados qualitativos de cinco utilizadoras. Não são um estudo formal nem prova de que a app serve a todas.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correu mal e o que aprendi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Aprendizagem"/>
          <p:cNvSpPr/>
          <p:nvPr/>
        </p:nvSpPr>
        <p:spPr>
          <a:xfrm>
            <a:off x="640080" y="1508760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22960" y="16459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penc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63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Desenhos doodle em cada exercício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6362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ideia foi minha, a IA desenhou e eu não gostei. Retirámos tudo. Aprendi a validar o estilo com amostras antes de produzir.</a:t>
            </a:r>
            <a:endParaRPr lang="en-US" sz="1250" dirty="0"/>
          </a:p>
        </p:txBody>
      </p:sp>
      <p:sp>
        <p:nvSpPr>
          <p:cNvPr id="11" name="Aprendizagem"/>
          <p:cNvSpPr/>
          <p:nvPr/>
        </p:nvSpPr>
        <p:spPr>
          <a:xfrm>
            <a:off x="640080" y="2441448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822960" y="257860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699309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contagem do donut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49631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Contava 3 exercícios de tríceps onde eram 2. O número tem de bater com a realidade de quem o lê.</a:t>
            </a:r>
            <a:endParaRPr lang="en-US" sz="1250" dirty="0"/>
          </a:p>
        </p:txBody>
      </p:sp>
      <p:sp>
        <p:nvSpPr>
          <p:cNvPr id="16" name="Aprendizagem"/>
          <p:cNvSpPr/>
          <p:nvPr/>
        </p:nvSpPr>
        <p:spPr>
          <a:xfrm>
            <a:off x="640080" y="3374136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822960" y="35112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8" name="Image 2" descr="mo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3631997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do Sono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4290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Saiu para dar lugar ao Perfil. Aprendi a questionar o que cada funcionalidade acrescenta ao objetivo do produto.</a:t>
            </a:r>
            <a:endParaRPr lang="en-US" sz="1250" dirty="0"/>
          </a:p>
        </p:txBody>
      </p:sp>
      <p:sp>
        <p:nvSpPr>
          <p:cNvPr id="21" name="Aprendizagem"/>
          <p:cNvSpPr/>
          <p:nvPr/>
        </p:nvSpPr>
        <p:spPr>
          <a:xfrm>
            <a:off x="640080" y="4306824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822960" y="4443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3" name="Image 3" descr="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564685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361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Treinos misturados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436168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de isolamento obrigou a uma estrutura separada para cada tipo de plano.</a:t>
            </a:r>
            <a:endParaRPr lang="en-US" sz="1250" dirty="0"/>
          </a:p>
        </p:txBody>
      </p:sp>
      <p:sp>
        <p:nvSpPr>
          <p:cNvPr id="26" name="Aprendizagem"/>
          <p:cNvSpPr/>
          <p:nvPr/>
        </p:nvSpPr>
        <p:spPr>
          <a:xfrm>
            <a:off x="640080" y="5239512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822960" y="53766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8" name="Image 4" descr="spark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5497373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54480" y="5294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Lição geral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846320" y="5294376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rápido de quem usa vale mais do que um design bem pensado mas não testado.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AGORA?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Limitação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16923"/>
            </a:avLst>
          </a:prstGeom>
          <a:solidFill>
            <a:srgbClr val="FBDCC4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7" name="Image 0" descr="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645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Limitação atual: as utilizadoras externas ainda não conseguem criar e configurar sozinhas todos os planos e exercícios. Fui eu que criei as contas e personalizei os planos manualmente. Só podem acrescentar exercícios aos grupos que já existem.</a:t>
            </a:r>
            <a:endParaRPr lang="en-US" sz="1350" dirty="0"/>
          </a:p>
        </p:txBody>
      </p:sp>
      <p:sp>
        <p:nvSpPr>
          <p:cNvPr id="9" name="Passo"/>
          <p:cNvSpPr/>
          <p:nvPr/>
        </p:nvSpPr>
        <p:spPr>
          <a:xfrm>
            <a:off x="6400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0" name="Ícone"/>
          <p:cNvSpPr/>
          <p:nvPr/>
        </p:nvSpPr>
        <p:spPr>
          <a:xfrm>
            <a:off x="8686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1" name="Image 1" descr="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4783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86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utilizadora configura o perfil e personaliza o treino sem depender de mim.</a:t>
            </a:r>
            <a:endParaRPr lang="en-US" sz="1350" dirty="0"/>
          </a:p>
        </p:txBody>
      </p:sp>
      <p:sp>
        <p:nvSpPr>
          <p:cNvPr id="14" name="Passo"/>
          <p:cNvSpPr/>
          <p:nvPr/>
        </p:nvSpPr>
        <p:spPr>
          <a:xfrm>
            <a:off x="33832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5" name="Ícone"/>
          <p:cNvSpPr/>
          <p:nvPr/>
        </p:nvSpPr>
        <p:spPr>
          <a:xfrm>
            <a:off x="36118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6" name="Image 2" descr="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98" y="34783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118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 de usabilidade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6118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a 5 pessoas fora do grupo, com tarefas simples e medição do tempo.</a:t>
            </a:r>
            <a:endParaRPr lang="en-US" sz="1350" dirty="0"/>
          </a:p>
        </p:txBody>
      </p:sp>
      <p:sp>
        <p:nvSpPr>
          <p:cNvPr id="19" name="Passo"/>
          <p:cNvSpPr/>
          <p:nvPr/>
        </p:nvSpPr>
        <p:spPr>
          <a:xfrm>
            <a:off x="61264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0" name="Ícone"/>
          <p:cNvSpPr/>
          <p:nvPr/>
        </p:nvSpPr>
        <p:spPr>
          <a:xfrm>
            <a:off x="63550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1" name="Image 3" descr="inf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347837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50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Acessibilidade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 contraste, tamanhos de texto e leitores de ecrã.</a:t>
            </a:r>
            <a:endParaRPr lang="en-US" sz="1350" dirty="0"/>
          </a:p>
        </p:txBody>
      </p:sp>
      <p:sp>
        <p:nvSpPr>
          <p:cNvPr id="24" name="Passo"/>
          <p:cNvSpPr/>
          <p:nvPr/>
        </p:nvSpPr>
        <p:spPr>
          <a:xfrm>
            <a:off x="88696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Ícone"/>
          <p:cNvSpPr/>
          <p:nvPr/>
        </p:nvSpPr>
        <p:spPr>
          <a:xfrm>
            <a:off x="90982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6" name="Image 4" descr="ale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098" y="347837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0982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Ecrãs de erro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0982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Mensagens mais claras quando a base de dados está em pausa.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tão final"/>
          <p:cNvSpPr/>
          <p:nvPr/>
        </p:nvSpPr>
        <p:spPr>
          <a:xfrm>
            <a:off x="2194560" y="1463040"/>
            <a:ext cx="7772400" cy="3840480"/>
          </a:xfrm>
          <a:prstGeom prst="roundRect">
            <a:avLst>
              <a:gd name="adj" fmla="val 952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219456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Obrigada!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ifs, just good butts</a:t>
            </a:r>
            <a:endParaRPr lang="en-US" sz="2000" dirty="0"/>
          </a:p>
        </p:txBody>
      </p:sp>
      <p:sp>
        <p:nvSpPr>
          <p:cNvPr id="5" name="Etiqueta"/>
          <p:cNvSpPr/>
          <p:nvPr/>
        </p:nvSpPr>
        <p:spPr>
          <a:xfrm>
            <a:off x="3794760" y="39776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9476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3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nome]</a:t>
            </a:r>
            <a:endParaRPr lang="en-US" sz="1100" dirty="0"/>
          </a:p>
        </p:txBody>
      </p:sp>
      <p:sp>
        <p:nvSpPr>
          <p:cNvPr id="7" name="Etiqueta"/>
          <p:cNvSpPr/>
          <p:nvPr/>
        </p:nvSpPr>
        <p:spPr>
          <a:xfrm>
            <a:off x="6217920" y="39776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contacto]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capturas de ecrã usam dados fictícios.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NIJB: estudo de caso (versão completa)</dc:title>
  <dc:subject>PptxGenJS Presentation</dc:subject>
  <dc:creator>PptxGenJS</dc:creator>
  <cp:lastModifiedBy>PptxGenJS</cp:lastModifiedBy>
  <cp:revision>1</cp:revision>
  <dcterms:created xsi:type="dcterms:W3CDTF">2026-10-27T23:51:14Z</dcterms:created>
  <dcterms:modified xsi:type="dcterms:W3CDTF">2026-10-27T23:51:14Z</dcterms:modified>
</cp:coreProperties>
</file>