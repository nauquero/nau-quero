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2.png"/><Relationship Id="rId8" Type="http://schemas.openxmlformats.org/officeDocument/2006/relationships/image" Target="../media/image-14-3.png"/><Relationship Id="rId9" Type="http://schemas.openxmlformats.org/officeDocument/2006/relationships/image" Target="../media/image-14-4.png"/><Relationship Id="rId10" Type="http://schemas.openxmlformats.org/officeDocument/2006/relationships/image" Target="../media/image-14-5.png"/><Relationship Id="rId11" Type="http://schemas.openxmlformats.org/officeDocument/2006/relationships/image" Target="../media/image-14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image" Target="../media/image-25-2.png"/><Relationship Id="rId3" Type="http://schemas.openxmlformats.org/officeDocument/2006/relationships/image" Target="../media/image-25-2.png"/><Relationship Id="rId4" Type="http://schemas.openxmlformats.org/officeDocument/2006/relationships/image" Target="../media/image-25-2.png"/><Relationship Id="rId5" Type="http://schemas.openxmlformats.org/officeDocument/2006/relationships/image" Target="../media/image-25-2.png"/><Relationship Id="rId6" Type="http://schemas.openxmlformats.org/officeDocument/2006/relationships/image" Target="../media/image-25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jpe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jpe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jpe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image" Target="../media/image-2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jpe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image" Target="../media/image-30-8.png"/><Relationship Id="rId9" Type="http://schemas.openxmlformats.org/officeDocument/2006/relationships/image" Target="../media/image-30-9.png"/><Relationship Id="rId10" Type="http://schemas.openxmlformats.org/officeDocument/2006/relationships/image" Target="../media/image-30-10.png"/><Relationship Id="rId11" Type="http://schemas.openxmlformats.org/officeDocument/2006/relationships/image" Target="../media/image-30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jpe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image" Target="../media/image-31-7.png"/><Relationship Id="rId8" Type="http://schemas.openxmlformats.org/officeDocument/2006/relationships/image" Target="../media/image-31-8.png"/><Relationship Id="rId9" Type="http://schemas.openxmlformats.org/officeDocument/2006/relationships/image" Target="../media/image-3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jpe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2.png"/><Relationship Id="rId5" Type="http://schemas.openxmlformats.org/officeDocument/2006/relationships/image" Target="../media/image-32-5.png"/><Relationship Id="rId6" Type="http://schemas.openxmlformats.org/officeDocument/2006/relationships/image" Target="../media/image-3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jpeg"/><Relationship Id="rId2" Type="http://schemas.openxmlformats.org/officeDocument/2006/relationships/image" Target="../media/image-34-2.png"/><Relationship Id="rId3" Type="http://schemas.openxmlformats.org/officeDocument/2006/relationships/image" Target="../media/image-34-2.png"/><Relationship Id="rId4" Type="http://schemas.openxmlformats.org/officeDocument/2006/relationships/image" Target="../media/image-34-2.png"/><Relationship Id="rId5" Type="http://schemas.openxmlformats.org/officeDocument/2006/relationships/image" Target="../media/image-34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jpe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jpe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image" Target="../media/image-3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jpe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jpe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jpe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image" Target="../media/image-39-5.png"/><Relationship Id="rId6" Type="http://schemas.openxmlformats.org/officeDocument/2006/relationships/image" Target="../media/image-3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jpe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image" Target="../media/image-40-5.png"/><Relationship Id="rId6" Type="http://schemas.openxmlformats.org/officeDocument/2006/relationships/image" Target="../media/image-40-6.png"/><Relationship Id="rId7" Type="http://schemas.openxmlformats.org/officeDocument/2006/relationships/image" Target="../media/image-4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jpe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image" Target="../media/image-41-5.png"/><Relationship Id="rId6" Type="http://schemas.openxmlformats.org/officeDocument/2006/relationships/image" Target="../media/image-41-6.png"/><Relationship Id="rId7" Type="http://schemas.openxmlformats.org/officeDocument/2006/relationships/image" Target="../media/image-41-7.png"/><Relationship Id="rId8" Type="http://schemas.openxmlformats.org/officeDocument/2006/relationships/image" Target="../media/image-4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rtão da capa"/>
          <p:cNvSpPr/>
          <p:nvPr/>
        </p:nvSpPr>
        <p:spPr>
          <a:xfrm>
            <a:off x="640080" y="1097280"/>
            <a:ext cx="6766560" cy="4663440"/>
          </a:xfrm>
          <a:prstGeom prst="roundRect">
            <a:avLst>
              <a:gd name="adj" fmla="val 6863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" name="Etiqueta"/>
          <p:cNvSpPr/>
          <p:nvPr/>
        </p:nvSpPr>
        <p:spPr>
          <a:xfrm>
            <a:off x="1005840" y="1463040"/>
            <a:ext cx="3931920" cy="329184"/>
          </a:xfrm>
          <a:prstGeom prst="roundRect">
            <a:avLst>
              <a:gd name="adj" fmla="val 5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46304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A63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ESTUDO DE CASO · UI/UX E MARKETING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20116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ifs,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7432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just good butts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84048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NIJB: uma app de fitness privada, só para mulheres. Treino, alimentação, medidas e progresso num só sítio.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50749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Mariana Rodrigues · Design de produto e marketing</a:t>
            </a:r>
            <a:endParaRPr lang="en-US" sz="1200" dirty="0"/>
          </a:p>
        </p:txBody>
      </p:sp>
      <p:pic>
        <p:nvPicPr>
          <p:cNvPr id="9" name="Image 0" descr="Captura de ecrã da app: log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502920"/>
            <a:ext cx="2900070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ÍNDICE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vais ver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ecção"/>
          <p:cNvSpPr/>
          <p:nvPr/>
        </p:nvSpPr>
        <p:spPr>
          <a:xfrm>
            <a:off x="640080" y="1554480"/>
            <a:ext cx="5303520" cy="960120"/>
          </a:xfrm>
          <a:prstGeom prst="roundRect">
            <a:avLst>
              <a:gd name="adj" fmla="val 2095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Ícone"/>
          <p:cNvSpPr/>
          <p:nvPr/>
        </p:nvSpPr>
        <p:spPr>
          <a:xfrm>
            <a:off x="822960" y="173736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8" name="Image 0" descr="targ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719" y="1868119"/>
            <a:ext cx="332842" cy="33284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16642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O contexto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600200" y="20299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 quem, o problema e os requisitos</a:t>
            </a:r>
            <a:endParaRPr lang="en-US" sz="1200" dirty="0"/>
          </a:p>
        </p:txBody>
      </p:sp>
      <p:sp>
        <p:nvSpPr>
          <p:cNvPr id="11" name="Secção"/>
          <p:cNvSpPr/>
          <p:nvPr/>
        </p:nvSpPr>
        <p:spPr>
          <a:xfrm>
            <a:off x="6217920" y="1554480"/>
            <a:ext cx="5303520" cy="960120"/>
          </a:xfrm>
          <a:prstGeom prst="roundRect">
            <a:avLst>
              <a:gd name="adj" fmla="val 2095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2" name="Ícone"/>
          <p:cNvSpPr/>
          <p:nvPr/>
        </p:nvSpPr>
        <p:spPr>
          <a:xfrm>
            <a:off x="6400800" y="173736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13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559" y="1868119"/>
            <a:ext cx="332842" cy="33284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78040" y="16642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Marketing da app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7178040" y="20299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Posicionamento, marca, convite, ativação e retenção</a:t>
            </a:r>
            <a:endParaRPr lang="en-US" sz="1200" dirty="0"/>
          </a:p>
        </p:txBody>
      </p:sp>
      <p:sp>
        <p:nvSpPr>
          <p:cNvPr id="16" name="Secção"/>
          <p:cNvSpPr/>
          <p:nvPr/>
        </p:nvSpPr>
        <p:spPr>
          <a:xfrm>
            <a:off x="640080" y="2697480"/>
            <a:ext cx="5303520" cy="960120"/>
          </a:xfrm>
          <a:prstGeom prst="roundRect">
            <a:avLst>
              <a:gd name="adj" fmla="val 2095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7" name="Ícone"/>
          <p:cNvSpPr/>
          <p:nvPr/>
        </p:nvSpPr>
        <p:spPr>
          <a:xfrm>
            <a:off x="822960" y="288036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18" name="Image 2" descr="dumbbel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3719" y="3011119"/>
            <a:ext cx="332842" cy="33284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600200" y="28072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A solução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1600200" y="31729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5 abas, uma a uma, com ecrãs reais</a:t>
            </a:r>
            <a:endParaRPr lang="en-US" sz="1200" dirty="0"/>
          </a:p>
        </p:txBody>
      </p:sp>
      <p:sp>
        <p:nvSpPr>
          <p:cNvPr id="21" name="Secção"/>
          <p:cNvSpPr/>
          <p:nvPr/>
        </p:nvSpPr>
        <p:spPr>
          <a:xfrm>
            <a:off x="6217920" y="2697480"/>
            <a:ext cx="5303520" cy="960120"/>
          </a:xfrm>
          <a:prstGeom prst="roundRect">
            <a:avLst>
              <a:gd name="adj" fmla="val 2095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2" name="Ícone"/>
          <p:cNvSpPr/>
          <p:nvPr/>
        </p:nvSpPr>
        <p:spPr>
          <a:xfrm>
            <a:off x="6400800" y="288036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23" name="Image 3" descr="us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1559" y="3011119"/>
            <a:ext cx="332842" cy="33284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178040" y="28072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Criar conta e objetivo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7178040" y="31729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Registo por convite e escolha do objetivo</a:t>
            </a:r>
            <a:endParaRPr lang="en-US" sz="1200" dirty="0"/>
          </a:p>
        </p:txBody>
      </p:sp>
      <p:sp>
        <p:nvSpPr>
          <p:cNvPr id="26" name="Secção"/>
          <p:cNvSpPr/>
          <p:nvPr/>
        </p:nvSpPr>
        <p:spPr>
          <a:xfrm>
            <a:off x="640080" y="3840480"/>
            <a:ext cx="5303520" cy="960120"/>
          </a:xfrm>
          <a:prstGeom prst="roundRect">
            <a:avLst>
              <a:gd name="adj" fmla="val 2095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7" name="Ícone"/>
          <p:cNvSpPr/>
          <p:nvPr/>
        </p:nvSpPr>
        <p:spPr>
          <a:xfrm>
            <a:off x="822960" y="402336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28" name="Image 4" descr="st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3719" y="4154119"/>
            <a:ext cx="332842" cy="33284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600200" y="39502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 Identidade visual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1600200" y="43159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Cores, tipografia e ícones</a:t>
            </a:r>
            <a:endParaRPr lang="en-US" sz="1200" dirty="0"/>
          </a:p>
        </p:txBody>
      </p:sp>
      <p:sp>
        <p:nvSpPr>
          <p:cNvPr id="31" name="Secção"/>
          <p:cNvSpPr/>
          <p:nvPr/>
        </p:nvSpPr>
        <p:spPr>
          <a:xfrm>
            <a:off x="6217920" y="3840480"/>
            <a:ext cx="5303520" cy="960120"/>
          </a:xfrm>
          <a:prstGeom prst="roundRect">
            <a:avLst>
              <a:gd name="adj" fmla="val 2095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2" name="Ícone"/>
          <p:cNvSpPr/>
          <p:nvPr/>
        </p:nvSpPr>
        <p:spPr>
          <a:xfrm>
            <a:off x="6400800" y="402336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33" name="Image 5" descr="activit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1559" y="4154119"/>
            <a:ext cx="332842" cy="332842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178040" y="39502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 Usabilidade e acessibilidade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7178040" y="43159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observei e o que mudei</a:t>
            </a:r>
            <a:endParaRPr lang="en-US" sz="1200" dirty="0"/>
          </a:p>
        </p:txBody>
      </p:sp>
      <p:sp>
        <p:nvSpPr>
          <p:cNvPr id="36" name="Secção"/>
          <p:cNvSpPr/>
          <p:nvPr/>
        </p:nvSpPr>
        <p:spPr>
          <a:xfrm>
            <a:off x="640080" y="4983480"/>
            <a:ext cx="5303520" cy="960120"/>
          </a:xfrm>
          <a:prstGeom prst="roundRect">
            <a:avLst>
              <a:gd name="adj" fmla="val 2095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7" name="Ícone"/>
          <p:cNvSpPr/>
          <p:nvPr/>
        </p:nvSpPr>
        <p:spPr>
          <a:xfrm>
            <a:off x="822960" y="516636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38" name="Image 6" descr="penci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3719" y="5297119"/>
            <a:ext cx="332842" cy="332842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1600200" y="50932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 Decisões, processo e IA</a:t>
            </a:r>
            <a:endParaRPr lang="en-US" sz="1600" dirty="0"/>
          </a:p>
        </p:txBody>
      </p:sp>
      <p:sp>
        <p:nvSpPr>
          <p:cNvPr id="40" name="Text 31"/>
          <p:cNvSpPr txBox="1"/>
          <p:nvPr/>
        </p:nvSpPr>
        <p:spPr>
          <a:xfrm>
            <a:off x="1600200" y="54589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mudou, porquê, e o meu papel</a:t>
            </a:r>
            <a:endParaRPr lang="en-US" sz="1200" dirty="0"/>
          </a:p>
        </p:txBody>
      </p:sp>
      <p:sp>
        <p:nvSpPr>
          <p:cNvPr id="41" name="Secção"/>
          <p:cNvSpPr/>
          <p:nvPr/>
        </p:nvSpPr>
        <p:spPr>
          <a:xfrm>
            <a:off x="6217920" y="4983480"/>
            <a:ext cx="5303520" cy="960120"/>
          </a:xfrm>
          <a:prstGeom prst="roundRect">
            <a:avLst>
              <a:gd name="adj" fmla="val 2095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42" name="Ícone"/>
          <p:cNvSpPr/>
          <p:nvPr/>
        </p:nvSpPr>
        <p:spPr>
          <a:xfrm>
            <a:off x="6400800" y="516636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43" name="Image 7" descr="trend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1559" y="5297119"/>
            <a:ext cx="332842" cy="332842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7178040" y="50932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 O impacto</a:t>
            </a:r>
            <a:endParaRPr lang="en-US" sz="1600" dirty="0"/>
          </a:p>
        </p:txBody>
      </p:sp>
      <p:sp>
        <p:nvSpPr>
          <p:cNvPr id="45" name="Text 35"/>
          <p:cNvSpPr txBox="1"/>
          <p:nvPr/>
        </p:nvSpPr>
        <p:spPr>
          <a:xfrm>
            <a:off x="7178040" y="54589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Resultados, aprendizagens e próximos passos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RESUMO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Criada a partir de uma necessidade real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4630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é uma app de fitness privada, só para mulheres, que criei a partir das minhas próprias necessidades e ideias, sem experiência prévia em programação e com o apoio do Claude Code. Na app o nome aparece como "Just Butts".</a:t>
            </a:r>
            <a:endParaRPr lang="en-US" sz="1500" dirty="0"/>
          </a:p>
        </p:txBody>
      </p:sp>
      <p:sp>
        <p:nvSpPr>
          <p:cNvPr id="7" name="Cartão"/>
          <p:cNvSpPr/>
          <p:nvPr/>
        </p:nvSpPr>
        <p:spPr>
          <a:xfrm>
            <a:off x="640080" y="2651760"/>
            <a:ext cx="2560320" cy="3291840"/>
          </a:xfrm>
          <a:prstGeom prst="roundRect">
            <a:avLst>
              <a:gd name="adj" fmla="val 785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8" name="Ícone"/>
          <p:cNvSpPr/>
          <p:nvPr/>
        </p:nvSpPr>
        <p:spPr>
          <a:xfrm>
            <a:off x="868680" y="288036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pic>
        <p:nvPicPr>
          <p:cNvPr id="9" name="Image 0" descr="us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498" y="3021178"/>
            <a:ext cx="358445" cy="35844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68680" y="3657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 quem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11480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Mulheres entre os 25 e os 65 anos, em especial quem está a começar no ginásio.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3383280" y="2651760"/>
            <a:ext cx="2560320" cy="3291840"/>
          </a:xfrm>
          <a:prstGeom prst="roundRect">
            <a:avLst>
              <a:gd name="adj" fmla="val 785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3" name="Ícone"/>
          <p:cNvSpPr/>
          <p:nvPr/>
        </p:nvSpPr>
        <p:spPr>
          <a:xfrm>
            <a:off x="3611880" y="288036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14" name="Image 1" descr="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2698" y="3021178"/>
            <a:ext cx="358445" cy="35844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611880" y="3657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Acesso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3611880" y="411480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Só por convite. Quem recebe um convite cria a sua conta. Cada uma vê só os seus dados.</a:t>
            </a:r>
            <a:endParaRPr lang="en-US" sz="1300" dirty="0"/>
          </a:p>
        </p:txBody>
      </p:sp>
      <p:sp>
        <p:nvSpPr>
          <p:cNvPr id="17" name="Cartão"/>
          <p:cNvSpPr/>
          <p:nvPr/>
        </p:nvSpPr>
        <p:spPr>
          <a:xfrm>
            <a:off x="6126480" y="2651760"/>
            <a:ext cx="2560320" cy="3291840"/>
          </a:xfrm>
          <a:prstGeom prst="roundRect">
            <a:avLst>
              <a:gd name="adj" fmla="val 785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8" name="Ícone"/>
          <p:cNvSpPr/>
          <p:nvPr/>
        </p:nvSpPr>
        <p:spPr>
          <a:xfrm>
            <a:off x="6355080" y="288036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pic>
        <p:nvPicPr>
          <p:cNvPr id="19" name="Image 2" descr="sparkl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5898" y="3021178"/>
            <a:ext cx="358445" cy="35844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355080" y="3657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Marketing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6355080" y="411480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Marca com personalidade, tom que nunca culpabiliza e crescimento por convite e passa-palavra.</a:t>
            </a:r>
            <a:endParaRPr lang="en-US" sz="1300" dirty="0"/>
          </a:p>
        </p:txBody>
      </p:sp>
      <p:sp>
        <p:nvSpPr>
          <p:cNvPr id="22" name="Cartão"/>
          <p:cNvSpPr/>
          <p:nvPr/>
        </p:nvSpPr>
        <p:spPr>
          <a:xfrm>
            <a:off x="8869680" y="2651760"/>
            <a:ext cx="2560320" cy="3291840"/>
          </a:xfrm>
          <a:prstGeom prst="roundRect">
            <a:avLst>
              <a:gd name="adj" fmla="val 785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3" name="Ícone"/>
          <p:cNvSpPr/>
          <p:nvPr/>
        </p:nvSpPr>
        <p:spPr>
          <a:xfrm>
            <a:off x="9098280" y="288036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pic>
        <p:nvPicPr>
          <p:cNvPr id="24" name="Image 3" descr="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098" y="3021178"/>
            <a:ext cx="358445" cy="35844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098280" y="3657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Validação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9098280" y="411480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Teste de usabilidade com pessoas reais e auditoria de acessibilidade: de 105 problemas de contraste para 0.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640080" y="60807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Cinco utilizadoras já usaram a app. Os resultados são qualitativos e iniciais, não um estudo formal.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CONTEXTO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problema: um ginásio intimidante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Dificuldade"/>
          <p:cNvSpPr/>
          <p:nvPr/>
        </p:nvSpPr>
        <p:spPr>
          <a:xfrm>
            <a:off x="640080" y="1645920"/>
            <a:ext cx="3474720" cy="1874520"/>
          </a:xfrm>
          <a:prstGeom prst="roundRect">
            <a:avLst>
              <a:gd name="adj" fmla="val 1073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Ícone"/>
          <p:cNvSpPr/>
          <p:nvPr/>
        </p:nvSpPr>
        <p:spPr>
          <a:xfrm>
            <a:off x="868680" y="187452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pic>
        <p:nvPicPr>
          <p:cNvPr id="8" name="Image 0" descr="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498" y="2015338"/>
            <a:ext cx="358445" cy="35844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91640" y="19202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saber o que fazer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9748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 exercícios fazer e em que ordem.</a:t>
            </a:r>
            <a:endParaRPr lang="en-US" sz="1300" dirty="0"/>
          </a:p>
        </p:txBody>
      </p:sp>
      <p:sp>
        <p:nvSpPr>
          <p:cNvPr id="11" name="Dificuldade"/>
          <p:cNvSpPr/>
          <p:nvPr/>
        </p:nvSpPr>
        <p:spPr>
          <a:xfrm>
            <a:off x="4297680" y="1645920"/>
            <a:ext cx="3474720" cy="1874520"/>
          </a:xfrm>
          <a:prstGeom prst="roundRect">
            <a:avLst>
              <a:gd name="adj" fmla="val 1073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2" name="Ícone"/>
          <p:cNvSpPr/>
          <p:nvPr/>
        </p:nvSpPr>
        <p:spPr>
          <a:xfrm>
            <a:off x="4526280" y="187452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13" name="Image 1" descr="penci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098" y="2015338"/>
            <a:ext cx="358445" cy="35844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349240" y="19202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recordar as cargas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526280" y="269748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Séries, repetições e peso da última vez.</a:t>
            </a:r>
            <a:endParaRPr lang="en-US" sz="1300" dirty="0"/>
          </a:p>
        </p:txBody>
      </p:sp>
      <p:sp>
        <p:nvSpPr>
          <p:cNvPr id="16" name="Dificuldade"/>
          <p:cNvSpPr/>
          <p:nvPr/>
        </p:nvSpPr>
        <p:spPr>
          <a:xfrm>
            <a:off x="7955280" y="1645920"/>
            <a:ext cx="3474720" cy="1874520"/>
          </a:xfrm>
          <a:prstGeom prst="roundRect">
            <a:avLst>
              <a:gd name="adj" fmla="val 1073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7" name="Ícone"/>
          <p:cNvSpPr/>
          <p:nvPr/>
        </p:nvSpPr>
        <p:spPr>
          <a:xfrm>
            <a:off x="8183880" y="187452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pic>
        <p:nvPicPr>
          <p:cNvPr id="18" name="Image 2" descr="tim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4698" y="2015338"/>
            <a:ext cx="358445" cy="35844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006840" y="19202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Perder tempo a decidir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8183880" y="269748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Decisões a meio do treino, entre séries.</a:t>
            </a:r>
            <a:endParaRPr lang="en-US" sz="1300" dirty="0"/>
          </a:p>
        </p:txBody>
      </p:sp>
      <p:sp>
        <p:nvSpPr>
          <p:cNvPr id="21" name="Dificuldade"/>
          <p:cNvSpPr/>
          <p:nvPr/>
        </p:nvSpPr>
        <p:spPr>
          <a:xfrm>
            <a:off x="640080" y="3749040"/>
            <a:ext cx="3474720" cy="1874520"/>
          </a:xfrm>
          <a:prstGeom prst="roundRect">
            <a:avLst>
              <a:gd name="adj" fmla="val 1073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2" name="Ícone"/>
          <p:cNvSpPr/>
          <p:nvPr/>
        </p:nvSpPr>
        <p:spPr>
          <a:xfrm>
            <a:off x="868680" y="397764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pic>
        <p:nvPicPr>
          <p:cNvPr id="23" name="Image 3" descr="tre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9498" y="4118458"/>
            <a:ext cx="358445" cy="35844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1640" y="40233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Difícil ver a evolução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868680" y="48006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registo, não se vê o progresso.</a:t>
            </a:r>
            <a:endParaRPr lang="en-US" sz="1300" dirty="0"/>
          </a:p>
        </p:txBody>
      </p:sp>
      <p:sp>
        <p:nvSpPr>
          <p:cNvPr id="26" name="Dificuldade"/>
          <p:cNvSpPr/>
          <p:nvPr/>
        </p:nvSpPr>
        <p:spPr>
          <a:xfrm>
            <a:off x="4297680" y="3749040"/>
            <a:ext cx="3474720" cy="1874520"/>
          </a:xfrm>
          <a:prstGeom prst="roundRect">
            <a:avLst>
              <a:gd name="adj" fmla="val 1073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7" name="Ícone"/>
          <p:cNvSpPr/>
          <p:nvPr/>
        </p:nvSpPr>
        <p:spPr>
          <a:xfrm>
            <a:off x="4526280" y="397764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28" name="Image 4" descr="boo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098" y="4118458"/>
            <a:ext cx="358445" cy="358445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349240" y="40233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 em sítios diferentes</a:t>
            </a:r>
            <a:endParaRPr lang="en-US" sz="1500" dirty="0"/>
          </a:p>
        </p:txBody>
      </p:sp>
      <p:sp>
        <p:nvSpPr>
          <p:cNvPr id="30" name="Text 23"/>
          <p:cNvSpPr txBox="1"/>
          <p:nvPr/>
        </p:nvSpPr>
        <p:spPr>
          <a:xfrm>
            <a:off x="4526280" y="48006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Treino, alimentação e medidas espalhados.</a:t>
            </a:r>
            <a:endParaRPr lang="en-US" sz="1300" dirty="0"/>
          </a:p>
        </p:txBody>
      </p:sp>
      <p:sp>
        <p:nvSpPr>
          <p:cNvPr id="31" name="Dificuldade"/>
          <p:cNvSpPr/>
          <p:nvPr/>
        </p:nvSpPr>
        <p:spPr>
          <a:xfrm>
            <a:off x="7955280" y="3749040"/>
            <a:ext cx="3474720" cy="1874520"/>
          </a:xfrm>
          <a:prstGeom prst="roundRect">
            <a:avLst>
              <a:gd name="adj" fmla="val 1073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2" name="Ícone"/>
          <p:cNvSpPr/>
          <p:nvPr/>
        </p:nvSpPr>
        <p:spPr>
          <a:xfrm>
            <a:off x="8183880" y="397764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pic>
        <p:nvPicPr>
          <p:cNvPr id="33" name="Image 5" descr="targe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24698" y="4118458"/>
            <a:ext cx="358445" cy="358445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9006840" y="40233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Falta de motivação</a:t>
            </a:r>
            <a:endParaRPr lang="en-US" sz="1500" dirty="0"/>
          </a:p>
        </p:txBody>
      </p:sp>
      <p:sp>
        <p:nvSpPr>
          <p:cNvPr id="35" name="Text 27"/>
          <p:cNvSpPr txBox="1"/>
          <p:nvPr/>
        </p:nvSpPr>
        <p:spPr>
          <a:xfrm>
            <a:off x="8183880" y="48006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um objetivo claro, é fácil desistir.</a:t>
            </a:r>
            <a:endParaRPr lang="en-US" sz="1300" dirty="0"/>
          </a:p>
        </p:txBody>
      </p:sp>
      <p:sp>
        <p:nvSpPr>
          <p:cNvPr id="36" name="Text 28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 quem está a começar, cada uma destas dificuldades é um motivo para não voltar.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CONTEXTO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pergunta central e os requisitos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Pergunta central"/>
          <p:cNvSpPr/>
          <p:nvPr/>
        </p:nvSpPr>
        <p:spPr>
          <a:xfrm>
            <a:off x="640080" y="1554480"/>
            <a:ext cx="10881360" cy="1371600"/>
          </a:xfrm>
          <a:prstGeom prst="roundRect">
            <a:avLst>
              <a:gd name="adj" fmla="val 14667"/>
            </a:avLst>
          </a:prstGeom>
          <a:solidFill>
            <a:srgbClr val="D9CFF0">
              <a:alpha val="60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Ícone"/>
          <p:cNvSpPr/>
          <p:nvPr/>
        </p:nvSpPr>
        <p:spPr>
          <a:xfrm>
            <a:off x="914400" y="192024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FFDFB"/>
          </a:solidFill>
          <a:ln w="12700">
            <a:solidFill>
              <a:srgbClr val="FFFDFB">
                <a:alpha val="0"/>
              </a:srgbClr>
            </a:solidFill>
            <a:prstDash val="solid"/>
          </a:ln>
        </p:spPr>
      </p:sp>
      <p:pic>
        <p:nvPicPr>
          <p:cNvPr id="8" name="Image 0" descr="mess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218" y="2061058"/>
            <a:ext cx="358445" cy="35844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828800" y="1645920"/>
            <a:ext cx="9418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tornar a experiência de ginásio mais simples e motivadora para as mulheres, juntando planeamento, registo e progresso numa app intuitiva e bonita?</a:t>
            </a:r>
            <a:endParaRPr lang="en-US" sz="1800" dirty="0"/>
          </a:p>
        </p:txBody>
      </p:sp>
      <p:sp>
        <p:nvSpPr>
          <p:cNvPr id="10" name="Requisito"/>
          <p:cNvSpPr/>
          <p:nvPr/>
        </p:nvSpPr>
        <p:spPr>
          <a:xfrm>
            <a:off x="640080" y="3291840"/>
            <a:ext cx="5394960" cy="1280160"/>
          </a:xfrm>
          <a:prstGeom prst="roundRect">
            <a:avLst>
              <a:gd name="adj" fmla="val 15714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1" name="Ícone"/>
          <p:cNvSpPr/>
          <p:nvPr/>
        </p:nvSpPr>
        <p:spPr>
          <a:xfrm>
            <a:off x="868680" y="361188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12" name="Image 1" descr="pla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498" y="3752698"/>
            <a:ext cx="358445" cy="35844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737360" y="34747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Usar com uma mão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1737360" y="3913632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ginásio, entre séries, com o telemóvel numa mão.</a:t>
            </a:r>
            <a:endParaRPr lang="en-US" sz="1250" dirty="0"/>
          </a:p>
        </p:txBody>
      </p:sp>
      <p:sp>
        <p:nvSpPr>
          <p:cNvPr id="15" name="Requisito"/>
          <p:cNvSpPr/>
          <p:nvPr/>
        </p:nvSpPr>
        <p:spPr>
          <a:xfrm>
            <a:off x="6126480" y="3291840"/>
            <a:ext cx="5394960" cy="1280160"/>
          </a:xfrm>
          <a:prstGeom prst="roundRect">
            <a:avLst>
              <a:gd name="adj" fmla="val 15714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6" name="Ícone"/>
          <p:cNvSpPr/>
          <p:nvPr/>
        </p:nvSpPr>
        <p:spPr>
          <a:xfrm>
            <a:off x="6355080" y="361188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17" name="Image 2" descr="sparkl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5898" y="3752698"/>
            <a:ext cx="358445" cy="35844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223760" y="34747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Instalar no ecrã principal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7223760" y="3913632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ir à loja de apps: funciona como uma app (PWA).</a:t>
            </a:r>
            <a:endParaRPr lang="en-US" sz="1250" dirty="0"/>
          </a:p>
        </p:txBody>
      </p:sp>
      <p:sp>
        <p:nvSpPr>
          <p:cNvPr id="20" name="Requisito"/>
          <p:cNvSpPr/>
          <p:nvPr/>
        </p:nvSpPr>
        <p:spPr>
          <a:xfrm>
            <a:off x="640080" y="4754880"/>
            <a:ext cx="5394960" cy="1280160"/>
          </a:xfrm>
          <a:prstGeom prst="roundRect">
            <a:avLst>
              <a:gd name="adj" fmla="val 15714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1" name="Ícone"/>
          <p:cNvSpPr/>
          <p:nvPr/>
        </p:nvSpPr>
        <p:spPr>
          <a:xfrm>
            <a:off x="868680" y="507492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22" name="Image 3" descr="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9498" y="5215738"/>
            <a:ext cx="358445" cy="358445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737360" y="49377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Dados separados e protegidos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1737360" y="5376672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Utilizador e palavra-passe; ninguém vê o treino das outras.</a:t>
            </a:r>
            <a:endParaRPr lang="en-US" sz="1250" dirty="0"/>
          </a:p>
        </p:txBody>
      </p:sp>
      <p:sp>
        <p:nvSpPr>
          <p:cNvPr id="25" name="Requisito"/>
          <p:cNvSpPr/>
          <p:nvPr/>
        </p:nvSpPr>
        <p:spPr>
          <a:xfrm>
            <a:off x="6126480" y="4754880"/>
            <a:ext cx="5394960" cy="1280160"/>
          </a:xfrm>
          <a:prstGeom prst="roundRect">
            <a:avLst>
              <a:gd name="adj" fmla="val 15714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6" name="Ícone"/>
          <p:cNvSpPr/>
          <p:nvPr/>
        </p:nvSpPr>
        <p:spPr>
          <a:xfrm>
            <a:off x="6355080" y="507492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27" name="Image 4" descr="st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5898" y="5215738"/>
            <a:ext cx="358445" cy="358445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223760" y="49377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Tom simpático</a:t>
            </a:r>
            <a:endParaRPr lang="en-US" sz="1500" dirty="0"/>
          </a:p>
        </p:txBody>
      </p:sp>
      <p:sp>
        <p:nvSpPr>
          <p:cNvPr id="29" name="Text 22"/>
          <p:cNvSpPr txBox="1"/>
          <p:nvPr/>
        </p:nvSpPr>
        <p:spPr>
          <a:xfrm>
            <a:off x="7223760" y="5376672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Bem-humorado, sem culpabilizar quem falha um dia.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MARKETING DA APP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Posicionamento e público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Posicionamento"/>
          <p:cNvSpPr/>
          <p:nvPr/>
        </p:nvSpPr>
        <p:spPr>
          <a:xfrm>
            <a:off x="640080" y="1645920"/>
            <a:ext cx="5394960" cy="2103120"/>
          </a:xfrm>
          <a:prstGeom prst="roundRect">
            <a:avLst>
              <a:gd name="adj" fmla="val 9565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Ícone"/>
          <p:cNvSpPr/>
          <p:nvPr/>
        </p:nvSpPr>
        <p:spPr>
          <a:xfrm>
            <a:off x="868680" y="187452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pic>
        <p:nvPicPr>
          <p:cNvPr id="8" name="Image 0" descr="us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498" y="2015338"/>
            <a:ext cx="358445" cy="35844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737360" y="2011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Público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517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Mulheres entre os 25 e os 65 anos, em especial quem está a começar no ginásio e se sente intimidada.</a:t>
            </a:r>
            <a:endParaRPr lang="en-US" sz="1350" dirty="0"/>
          </a:p>
        </p:txBody>
      </p:sp>
      <p:sp>
        <p:nvSpPr>
          <p:cNvPr id="11" name="Posicionamento"/>
          <p:cNvSpPr/>
          <p:nvPr/>
        </p:nvSpPr>
        <p:spPr>
          <a:xfrm>
            <a:off x="6126480" y="1645920"/>
            <a:ext cx="5394960" cy="2103120"/>
          </a:xfrm>
          <a:prstGeom prst="roundRect">
            <a:avLst>
              <a:gd name="adj" fmla="val 9565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2" name="Ícone"/>
          <p:cNvSpPr/>
          <p:nvPr/>
        </p:nvSpPr>
        <p:spPr>
          <a:xfrm>
            <a:off x="6355080" y="187452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13" name="Image 1" descr="targ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5898" y="2015338"/>
            <a:ext cx="358445" cy="35844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223760" y="2011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Proposta de valor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6355080" y="26517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"O teu plano, a tua rotina": sabe sempre o que fazer em cada treino, sem decidir nada, e tem tudo num só sítio.</a:t>
            </a:r>
            <a:endParaRPr lang="en-US" sz="1350" dirty="0"/>
          </a:p>
        </p:txBody>
      </p:sp>
      <p:sp>
        <p:nvSpPr>
          <p:cNvPr id="16" name="Posicionamento"/>
          <p:cNvSpPr/>
          <p:nvPr/>
        </p:nvSpPr>
        <p:spPr>
          <a:xfrm>
            <a:off x="640080" y="3931920"/>
            <a:ext cx="5394960" cy="2103120"/>
          </a:xfrm>
          <a:prstGeom prst="roundRect">
            <a:avLst>
              <a:gd name="adj" fmla="val 9565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7" name="Ícone"/>
          <p:cNvSpPr/>
          <p:nvPr/>
        </p:nvSpPr>
        <p:spPr>
          <a:xfrm>
            <a:off x="868680" y="416052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pic>
        <p:nvPicPr>
          <p:cNvPr id="18" name="Image 2" descr="st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9498" y="4301338"/>
            <a:ext cx="358445" cy="35844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737360" y="4297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Diferenciação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868680" y="49377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apps mais conhecidas são técnicas e pensadas para quem já treina. A NIJB é leve, bonita, bem-humorada, privada e só por convite.</a:t>
            </a:r>
            <a:endParaRPr lang="en-US" sz="1350" dirty="0"/>
          </a:p>
        </p:txBody>
      </p:sp>
      <p:sp>
        <p:nvSpPr>
          <p:cNvPr id="21" name="Posicionamento"/>
          <p:cNvSpPr/>
          <p:nvPr/>
        </p:nvSpPr>
        <p:spPr>
          <a:xfrm>
            <a:off x="6126480" y="3931920"/>
            <a:ext cx="5394960" cy="2103120"/>
          </a:xfrm>
          <a:prstGeom prst="roundRect">
            <a:avLst>
              <a:gd name="adj" fmla="val 9565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2" name="Ícone"/>
          <p:cNvSpPr/>
          <p:nvPr/>
        </p:nvSpPr>
        <p:spPr>
          <a:xfrm>
            <a:off x="6355080" y="416052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pic>
        <p:nvPicPr>
          <p:cNvPr id="23" name="Image 3" descr="sparkl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5898" y="4301338"/>
            <a:ext cx="358445" cy="35844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223760" y="4297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Promessa emocional</a:t>
            </a:r>
            <a:endParaRPr lang="en-US" sz="1700" dirty="0"/>
          </a:p>
        </p:txBody>
      </p:sp>
      <p:sp>
        <p:nvSpPr>
          <p:cNvPr id="25" name="Text 19"/>
          <p:cNvSpPr txBox="1"/>
          <p:nvPr/>
        </p:nvSpPr>
        <p:spPr>
          <a:xfrm>
            <a:off x="6355080" y="49377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Tornar o ginásio menos intimidante. Nas palavras de uma utilizadora: "já não é um bicho de 7 cabeças".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MARKETING DA APP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Marca e tom de voz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000" dirty="0"/>
          </a:p>
        </p:txBody>
      </p:sp>
      <p:pic>
        <p:nvPicPr>
          <p:cNvPr id="6" name="Image 0" descr="Captura de ecrã da app: log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1280160"/>
            <a:ext cx="2492248" cy="5029200"/>
          </a:xfrm>
          <a:prstGeom prst="rect">
            <a:avLst/>
          </a:prstGeom>
        </p:spPr>
      </p:pic>
      <p:sp>
        <p:nvSpPr>
          <p:cNvPr id="7" name="Marca"/>
          <p:cNvSpPr/>
          <p:nvPr/>
        </p:nvSpPr>
        <p:spPr>
          <a:xfrm>
            <a:off x="640080" y="1554480"/>
            <a:ext cx="6949440" cy="822960"/>
          </a:xfrm>
          <a:prstGeom prst="roundRect">
            <a:avLst>
              <a:gd name="adj" fmla="val 24444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8" name="Ícone"/>
          <p:cNvSpPr/>
          <p:nvPr/>
        </p:nvSpPr>
        <p:spPr>
          <a:xfrm>
            <a:off x="822960" y="169164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9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661" y="1812341"/>
            <a:ext cx="307238" cy="30723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1600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Nome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3108960" y="164592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"No ifs, just good butts" (NIJB): humor e sem desculpas. Na app aparece como "Just Butts".</a:t>
            </a:r>
            <a:endParaRPr lang="en-US" sz="1150" dirty="0"/>
          </a:p>
        </p:txBody>
      </p:sp>
      <p:sp>
        <p:nvSpPr>
          <p:cNvPr id="12" name="Marca"/>
          <p:cNvSpPr/>
          <p:nvPr/>
        </p:nvSpPr>
        <p:spPr>
          <a:xfrm>
            <a:off x="640080" y="2487168"/>
            <a:ext cx="6949440" cy="822960"/>
          </a:xfrm>
          <a:prstGeom prst="roundRect">
            <a:avLst>
              <a:gd name="adj" fmla="val 24444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3" name="Ícone"/>
          <p:cNvSpPr/>
          <p:nvPr/>
        </p:nvSpPr>
        <p:spPr>
          <a:xfrm>
            <a:off x="822960" y="2624328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14" name="Image 2" descr="mess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661" y="2745029"/>
            <a:ext cx="307238" cy="30723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554480" y="253288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Slogan</a:t>
            </a:r>
            <a:endParaRPr lang="en-US" sz="1350" dirty="0"/>
          </a:p>
        </p:txBody>
      </p:sp>
      <p:sp>
        <p:nvSpPr>
          <p:cNvPr id="16" name="Text 11"/>
          <p:cNvSpPr txBox="1"/>
          <p:nvPr/>
        </p:nvSpPr>
        <p:spPr>
          <a:xfrm>
            <a:off x="3108960" y="2578608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"o teu plano, a tua rotina"</a:t>
            </a:r>
            <a:endParaRPr lang="en-US" sz="1150" dirty="0"/>
          </a:p>
        </p:txBody>
      </p:sp>
      <p:sp>
        <p:nvSpPr>
          <p:cNvPr id="17" name="Marca"/>
          <p:cNvSpPr/>
          <p:nvPr/>
        </p:nvSpPr>
        <p:spPr>
          <a:xfrm>
            <a:off x="640080" y="3419856"/>
            <a:ext cx="6949440" cy="822960"/>
          </a:xfrm>
          <a:prstGeom prst="roundRect">
            <a:avLst>
              <a:gd name="adj" fmla="val 24444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8" name="Ícone"/>
          <p:cNvSpPr/>
          <p:nvPr/>
        </p:nvSpPr>
        <p:spPr>
          <a:xfrm>
            <a:off x="822960" y="3557016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19" name="Image 3" descr="us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661" y="3677717"/>
            <a:ext cx="307238" cy="30723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554480" y="346557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Saudação</a:t>
            </a:r>
            <a:endParaRPr lang="en-US" sz="1350" dirty="0"/>
          </a:p>
        </p:txBody>
      </p:sp>
      <p:sp>
        <p:nvSpPr>
          <p:cNvPr id="21" name="Text 15"/>
          <p:cNvSpPr txBox="1"/>
          <p:nvPr/>
        </p:nvSpPr>
        <p:spPr>
          <a:xfrm>
            <a:off x="3108960" y="3511296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"Hey, sweetie" com o nome próprio da utilizadora no cabeçalho.</a:t>
            </a:r>
            <a:endParaRPr lang="en-US" sz="1150" dirty="0"/>
          </a:p>
        </p:txBody>
      </p:sp>
      <p:sp>
        <p:nvSpPr>
          <p:cNvPr id="22" name="Marca"/>
          <p:cNvSpPr/>
          <p:nvPr/>
        </p:nvSpPr>
        <p:spPr>
          <a:xfrm>
            <a:off x="640080" y="4352544"/>
            <a:ext cx="6949440" cy="822960"/>
          </a:xfrm>
          <a:prstGeom prst="roundRect">
            <a:avLst>
              <a:gd name="adj" fmla="val 24444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3" name="Ícone"/>
          <p:cNvSpPr/>
          <p:nvPr/>
        </p:nvSpPr>
        <p:spPr>
          <a:xfrm>
            <a:off x="822960" y="4489704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24" name="Image 4" descr="penci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661" y="4610405"/>
            <a:ext cx="307238" cy="30723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554480" y="43982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Microtextos</a:t>
            </a:r>
            <a:endParaRPr lang="en-US" sz="1350" dirty="0"/>
          </a:p>
        </p:txBody>
      </p:sp>
      <p:sp>
        <p:nvSpPr>
          <p:cNvPr id="26" name="Text 19"/>
          <p:cNvSpPr txBox="1"/>
          <p:nvPr/>
        </p:nvSpPr>
        <p:spPr>
          <a:xfrm>
            <a:off x="3108960" y="4443984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"modo obra em curso", "derreter gordura sem derreter a paciência", "Bora! Próxima série".</a:t>
            </a:r>
            <a:endParaRPr lang="en-US" sz="1150" dirty="0"/>
          </a:p>
        </p:txBody>
      </p:sp>
      <p:sp>
        <p:nvSpPr>
          <p:cNvPr id="27" name="Marca"/>
          <p:cNvSpPr/>
          <p:nvPr/>
        </p:nvSpPr>
        <p:spPr>
          <a:xfrm>
            <a:off x="640080" y="5285232"/>
            <a:ext cx="6949440" cy="822960"/>
          </a:xfrm>
          <a:prstGeom prst="roundRect">
            <a:avLst>
              <a:gd name="adj" fmla="val 24444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8" name="Ícone"/>
          <p:cNvSpPr/>
          <p:nvPr/>
        </p:nvSpPr>
        <p:spPr>
          <a:xfrm>
            <a:off x="822960" y="5422392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29" name="Image 5" descr="ale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3661" y="5543093"/>
            <a:ext cx="307238" cy="30723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554480" y="53309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Regras de ouro</a:t>
            </a:r>
            <a:endParaRPr lang="en-US" sz="1350" dirty="0"/>
          </a:p>
        </p:txBody>
      </p:sp>
      <p:sp>
        <p:nvSpPr>
          <p:cNvPr id="31" name="Text 23"/>
          <p:cNvSpPr txBox="1"/>
          <p:nvPr/>
        </p:nvSpPr>
        <p:spPr>
          <a:xfrm>
            <a:off x="3108960" y="5376672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Nunca culpabilizar e nunca comparar com outras pessoas. O resumo do mês fala só de factos.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MARKETING DA APP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estética e os momentos de prazer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Ideia"/>
          <p:cNvSpPr/>
          <p:nvPr/>
        </p:nvSpPr>
        <p:spPr>
          <a:xfrm>
            <a:off x="640080" y="1600200"/>
            <a:ext cx="10881360" cy="1051560"/>
          </a:xfrm>
          <a:prstGeom prst="roundRect">
            <a:avLst>
              <a:gd name="adj" fmla="val 1913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Ícone"/>
          <p:cNvSpPr/>
          <p:nvPr/>
        </p:nvSpPr>
        <p:spPr>
          <a:xfrm>
            <a:off x="868680" y="182880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pic>
        <p:nvPicPr>
          <p:cNvPr id="8" name="Image 0" descr="sparkl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439" y="1959559"/>
            <a:ext cx="332842" cy="33284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737360" y="169164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Reconhecível e partilhável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737360" y="2057400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Rosa, lilás, menta e pêssego pastel, tipografia Poppins arredondada e ícones de linha dão à app um ar próprio e fácil de reconhecer.</a:t>
            </a:r>
            <a:endParaRPr lang="en-US" sz="1300" dirty="0"/>
          </a:p>
        </p:txBody>
      </p:sp>
      <p:sp>
        <p:nvSpPr>
          <p:cNvPr id="11" name="Ideia"/>
          <p:cNvSpPr/>
          <p:nvPr/>
        </p:nvSpPr>
        <p:spPr>
          <a:xfrm>
            <a:off x="640080" y="2788920"/>
            <a:ext cx="10881360" cy="1051560"/>
          </a:xfrm>
          <a:prstGeom prst="roundRect">
            <a:avLst>
              <a:gd name="adj" fmla="val 1913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2" name="Ícone"/>
          <p:cNvSpPr/>
          <p:nvPr/>
        </p:nvSpPr>
        <p:spPr>
          <a:xfrm>
            <a:off x="868680" y="301752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13" name="Image 1" descr="st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439" y="3148279"/>
            <a:ext cx="332842" cy="33284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737360" y="288036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beleza é um motivo para usar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1737360" y="3246120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"Sinto-me mais motivada para ir ao ginásio com uma app tão bonita!"</a:t>
            </a:r>
            <a:endParaRPr lang="en-US" sz="1300" dirty="0"/>
          </a:p>
        </p:txBody>
      </p:sp>
      <p:sp>
        <p:nvSpPr>
          <p:cNvPr id="16" name="Ideia"/>
          <p:cNvSpPr/>
          <p:nvPr/>
        </p:nvSpPr>
        <p:spPr>
          <a:xfrm>
            <a:off x="640080" y="3977640"/>
            <a:ext cx="10881360" cy="1051560"/>
          </a:xfrm>
          <a:prstGeom prst="roundRect">
            <a:avLst>
              <a:gd name="adj" fmla="val 1913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7" name="Ícone"/>
          <p:cNvSpPr/>
          <p:nvPr/>
        </p:nvSpPr>
        <p:spPr>
          <a:xfrm>
            <a:off x="868680" y="420624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pic>
        <p:nvPicPr>
          <p:cNvPr id="18" name="Image 2" descr="flam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439" y="4336999"/>
            <a:ext cx="332842" cy="33284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737360" y="40690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Pequenas celebrações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1737360" y="4434840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Confetti e som quando se bate a meta do mês, "pops" sonoros e vibração ao tocar nos botões.</a:t>
            </a:r>
            <a:endParaRPr lang="en-US" sz="1300" dirty="0"/>
          </a:p>
        </p:txBody>
      </p:sp>
      <p:sp>
        <p:nvSpPr>
          <p:cNvPr id="21" name="Ideia"/>
          <p:cNvSpPr/>
          <p:nvPr/>
        </p:nvSpPr>
        <p:spPr>
          <a:xfrm>
            <a:off x="640080" y="5166360"/>
            <a:ext cx="10881360" cy="1051560"/>
          </a:xfrm>
          <a:prstGeom prst="roundRect">
            <a:avLst>
              <a:gd name="adj" fmla="val 1913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2" name="Ícone"/>
          <p:cNvSpPr/>
          <p:nvPr/>
        </p:nvSpPr>
        <p:spPr>
          <a:xfrm>
            <a:off x="868680" y="539496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23" name="Image 3" descr="ale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39" y="5525719"/>
            <a:ext cx="332842" cy="33284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737360" y="525780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culpa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1737360" y="5623560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Faltar um dia não é punido: o resumo mostra o que foi feito e propõe a próxima missão.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MARKETING DA APP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Aquisição: convite e passa-palavra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1000" dirty="0"/>
          </a:p>
        </p:txBody>
      </p:sp>
      <p:pic>
        <p:nvPicPr>
          <p:cNvPr id="6" name="Image 0" descr="Captura de ecrã da app: reg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1280160"/>
            <a:ext cx="2492248" cy="5029200"/>
          </a:xfrm>
          <a:prstGeom prst="rect">
            <a:avLst/>
          </a:prstGeom>
        </p:spPr>
      </p:pic>
      <p:sp>
        <p:nvSpPr>
          <p:cNvPr id="7" name="Aquisição"/>
          <p:cNvSpPr/>
          <p:nvPr/>
        </p:nvSpPr>
        <p:spPr>
          <a:xfrm>
            <a:off x="640080" y="1554480"/>
            <a:ext cx="6949440" cy="1051560"/>
          </a:xfrm>
          <a:prstGeom prst="roundRect">
            <a:avLst>
              <a:gd name="adj" fmla="val 1913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8" name="Ícone"/>
          <p:cNvSpPr/>
          <p:nvPr/>
        </p:nvSpPr>
        <p:spPr>
          <a:xfrm>
            <a:off x="822960" y="178308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9" name="Image 1" descr="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719" y="1913839"/>
            <a:ext cx="332842" cy="33284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00200" y="160934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Só por convite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1600200" y="196596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Cria exclusividade e comunidade, evita spam e mantém a confiança, algo essencial quando a app guarda dados de saúde.</a:t>
            </a:r>
            <a:endParaRPr lang="en-US" sz="1150" dirty="0"/>
          </a:p>
        </p:txBody>
      </p:sp>
      <p:sp>
        <p:nvSpPr>
          <p:cNvPr id="12" name="Aquisição"/>
          <p:cNvSpPr/>
          <p:nvPr/>
        </p:nvSpPr>
        <p:spPr>
          <a:xfrm>
            <a:off x="640080" y="2724912"/>
            <a:ext cx="6949440" cy="1051560"/>
          </a:xfrm>
          <a:prstGeom prst="roundRect">
            <a:avLst>
              <a:gd name="adj" fmla="val 1913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3" name="Ícone"/>
          <p:cNvSpPr/>
          <p:nvPr/>
        </p:nvSpPr>
        <p:spPr>
          <a:xfrm>
            <a:off x="822960" y="2953512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14" name="Image 2" descr="mess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3719" y="3084271"/>
            <a:ext cx="332842" cy="33284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600200" y="277977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link já leva o código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1600200" y="3136392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amiga recebe um link do tipo .../PlanoTreino/?convite=CÓDIGO. A app abre no registo e o código vem preenchido.</a:t>
            </a:r>
            <a:endParaRPr lang="en-US" sz="1150" dirty="0"/>
          </a:p>
        </p:txBody>
      </p:sp>
      <p:sp>
        <p:nvSpPr>
          <p:cNvPr id="17" name="Aquisição"/>
          <p:cNvSpPr/>
          <p:nvPr/>
        </p:nvSpPr>
        <p:spPr>
          <a:xfrm>
            <a:off x="640080" y="3895344"/>
            <a:ext cx="6949440" cy="1051560"/>
          </a:xfrm>
          <a:prstGeom prst="roundRect">
            <a:avLst>
              <a:gd name="adj" fmla="val 1913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8" name="Ícone"/>
          <p:cNvSpPr/>
          <p:nvPr/>
        </p:nvSpPr>
        <p:spPr>
          <a:xfrm>
            <a:off x="822960" y="4123944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19" name="Image 3" descr="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3719" y="4254703"/>
            <a:ext cx="332842" cy="33284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395020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Controlo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1600200" y="4306824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código tem um máximo de contas, pode ser desativado e há um travão contra tentativas de adivinhar códigos.</a:t>
            </a:r>
            <a:endParaRPr lang="en-US" sz="1150" dirty="0"/>
          </a:p>
        </p:txBody>
      </p:sp>
      <p:sp>
        <p:nvSpPr>
          <p:cNvPr id="22" name="Aquisição"/>
          <p:cNvSpPr/>
          <p:nvPr/>
        </p:nvSpPr>
        <p:spPr>
          <a:xfrm>
            <a:off x="640080" y="5065776"/>
            <a:ext cx="6949440" cy="1051560"/>
          </a:xfrm>
          <a:prstGeom prst="roundRect">
            <a:avLst>
              <a:gd name="adj" fmla="val 1913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3" name="Ícone"/>
          <p:cNvSpPr/>
          <p:nvPr/>
        </p:nvSpPr>
        <p:spPr>
          <a:xfrm>
            <a:off x="822960" y="5294376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24" name="Image 4" descr="st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3719" y="5425135"/>
            <a:ext cx="332842" cy="332842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600200" y="512064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Porque funciona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1600200" y="5477256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convite é uma recomendação pessoal, tem custo zero e já vem com prova social.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MARKETING DA APP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Ativação: o primeiro minuto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Etapa"/>
          <p:cNvSpPr/>
          <p:nvPr/>
        </p:nvSpPr>
        <p:spPr>
          <a:xfrm>
            <a:off x="640080" y="1600200"/>
            <a:ext cx="3474720" cy="2148840"/>
          </a:xfrm>
          <a:prstGeom prst="roundRect">
            <a:avLst>
              <a:gd name="adj" fmla="val 936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Número"/>
          <p:cNvSpPr/>
          <p:nvPr/>
        </p:nvSpPr>
        <p:spPr>
          <a:xfrm>
            <a:off x="868680" y="1828800"/>
            <a:ext cx="502920" cy="502920"/>
          </a:xfrm>
          <a:prstGeom prst="ellipse">
            <a:avLst/>
          </a:prstGeom>
          <a:solidFill>
            <a:srgbClr val="9C5A74"/>
          </a:solidFill>
          <a:ln w="12700">
            <a:solidFill>
              <a:srgbClr val="9C5A74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DF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Convite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5146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pessoa abre o link e o código já vem preenchido.</a:t>
            </a:r>
            <a:endParaRPr lang="en-US" sz="1200" dirty="0"/>
          </a:p>
        </p:txBody>
      </p:sp>
      <p:sp>
        <p:nvSpPr>
          <p:cNvPr id="11" name="Etiqueta"/>
          <p:cNvSpPr/>
          <p:nvPr/>
        </p:nvSpPr>
        <p:spPr>
          <a:xfrm>
            <a:off x="868680" y="3246120"/>
            <a:ext cx="3017520" cy="347472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" y="32461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Zero fricção</a:t>
            </a:r>
            <a:endParaRPr lang="en-US" sz="1100" dirty="0"/>
          </a:p>
        </p:txBody>
      </p:sp>
      <p:sp>
        <p:nvSpPr>
          <p:cNvPr id="13" name="Etapa"/>
          <p:cNvSpPr/>
          <p:nvPr/>
        </p:nvSpPr>
        <p:spPr>
          <a:xfrm>
            <a:off x="4297680" y="1600200"/>
            <a:ext cx="3474720" cy="2148840"/>
          </a:xfrm>
          <a:prstGeom prst="roundRect">
            <a:avLst>
              <a:gd name="adj" fmla="val 936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4" name="Número"/>
          <p:cNvSpPr/>
          <p:nvPr/>
        </p:nvSpPr>
        <p:spPr>
          <a:xfrm>
            <a:off x="4526280" y="1828800"/>
            <a:ext cx="502920" cy="502920"/>
          </a:xfrm>
          <a:prstGeom prst="ellipse">
            <a:avLst/>
          </a:prstGeom>
          <a:solidFill>
            <a:srgbClr val="9C5A74"/>
          </a:solidFill>
          <a:ln w="12700">
            <a:solidFill>
              <a:srgbClr val="9C5A74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2628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DF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Conta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26280" y="25146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Escolhe utilizador e palavra-passe.</a:t>
            </a:r>
            <a:endParaRPr lang="en-US" sz="1200" dirty="0"/>
          </a:p>
        </p:txBody>
      </p:sp>
      <p:sp>
        <p:nvSpPr>
          <p:cNvPr id="18" name="Etiqueta"/>
          <p:cNvSpPr/>
          <p:nvPr/>
        </p:nvSpPr>
        <p:spPr>
          <a:xfrm>
            <a:off x="4526280" y="3246120"/>
            <a:ext cx="3017520" cy="347472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26280" y="32461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Começar depressa</a:t>
            </a:r>
            <a:endParaRPr lang="en-US" sz="1100" dirty="0"/>
          </a:p>
        </p:txBody>
      </p:sp>
      <p:sp>
        <p:nvSpPr>
          <p:cNvPr id="20" name="Etapa"/>
          <p:cNvSpPr/>
          <p:nvPr/>
        </p:nvSpPr>
        <p:spPr>
          <a:xfrm>
            <a:off x="7955280" y="1600200"/>
            <a:ext cx="3474720" cy="2148840"/>
          </a:xfrm>
          <a:prstGeom prst="roundRect">
            <a:avLst>
              <a:gd name="adj" fmla="val 936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1" name="Número"/>
          <p:cNvSpPr/>
          <p:nvPr/>
        </p:nvSpPr>
        <p:spPr>
          <a:xfrm>
            <a:off x="8183880" y="1828800"/>
            <a:ext cx="502920" cy="502920"/>
          </a:xfrm>
          <a:prstGeom prst="ellipse">
            <a:avLst/>
          </a:prstGeom>
          <a:solidFill>
            <a:srgbClr val="9C5A74"/>
          </a:solidFill>
          <a:ln w="12700">
            <a:solidFill>
              <a:srgbClr val="9C5A74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18388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DF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82396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Sobre ti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8183880" y="25146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Nome próprio, género e data de nascimento.</a:t>
            </a:r>
            <a:endParaRPr lang="en-US" sz="1200" dirty="0"/>
          </a:p>
        </p:txBody>
      </p:sp>
      <p:sp>
        <p:nvSpPr>
          <p:cNvPr id="25" name="Etiqueta"/>
          <p:cNvSpPr/>
          <p:nvPr/>
        </p:nvSpPr>
        <p:spPr>
          <a:xfrm>
            <a:off x="8183880" y="3246120"/>
            <a:ext cx="3017520" cy="347472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183880" y="32461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Personalizar: "Hey, sweetie"</a:t>
            </a:r>
            <a:endParaRPr lang="en-US" sz="1100" dirty="0"/>
          </a:p>
        </p:txBody>
      </p:sp>
      <p:sp>
        <p:nvSpPr>
          <p:cNvPr id="27" name="Etapa"/>
          <p:cNvSpPr/>
          <p:nvPr/>
        </p:nvSpPr>
        <p:spPr>
          <a:xfrm>
            <a:off x="640080" y="3931920"/>
            <a:ext cx="3474720" cy="2148840"/>
          </a:xfrm>
          <a:prstGeom prst="roundRect">
            <a:avLst>
              <a:gd name="adj" fmla="val 936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8" name="Número"/>
          <p:cNvSpPr/>
          <p:nvPr/>
        </p:nvSpPr>
        <p:spPr>
          <a:xfrm>
            <a:off x="868680" y="4160520"/>
            <a:ext cx="502920" cy="502920"/>
          </a:xfrm>
          <a:prstGeom prst="ellipse">
            <a:avLst/>
          </a:prstGeom>
          <a:solidFill>
            <a:srgbClr val="9C5A74"/>
          </a:solidFill>
          <a:ln w="12700">
            <a:solidFill>
              <a:srgbClr val="9C5A74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6868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DF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508760" y="42062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Objetivo e medidas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68680" y="48463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Escolhe um de 4 objetivos e, se quiser, regista as primeiras medidas.</a:t>
            </a:r>
            <a:endParaRPr lang="en-US" sz="1200" dirty="0"/>
          </a:p>
        </p:txBody>
      </p:sp>
      <p:sp>
        <p:nvSpPr>
          <p:cNvPr id="32" name="Etiqueta"/>
          <p:cNvSpPr/>
          <p:nvPr/>
        </p:nvSpPr>
        <p:spPr>
          <a:xfrm>
            <a:off x="868680" y="5577840"/>
            <a:ext cx="3017520" cy="347472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557784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Sentir que é para ela</a:t>
            </a:r>
            <a:endParaRPr lang="en-US" sz="1100" dirty="0"/>
          </a:p>
        </p:txBody>
      </p:sp>
      <p:sp>
        <p:nvSpPr>
          <p:cNvPr id="34" name="Etapa"/>
          <p:cNvSpPr/>
          <p:nvPr/>
        </p:nvSpPr>
        <p:spPr>
          <a:xfrm>
            <a:off x="4297680" y="3931920"/>
            <a:ext cx="3474720" cy="2148840"/>
          </a:xfrm>
          <a:prstGeom prst="roundRect">
            <a:avLst>
              <a:gd name="adj" fmla="val 936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5" name="Número"/>
          <p:cNvSpPr/>
          <p:nvPr/>
        </p:nvSpPr>
        <p:spPr>
          <a:xfrm>
            <a:off x="4526280" y="4160520"/>
            <a:ext cx="502920" cy="502920"/>
          </a:xfrm>
          <a:prstGeom prst="ellipse">
            <a:avLst/>
          </a:prstGeom>
          <a:solidFill>
            <a:srgbClr val="9C5A74"/>
          </a:solidFill>
          <a:ln w="12700">
            <a:solidFill>
              <a:srgbClr val="9C5A74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52628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DF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166360" y="42062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Primeiro treino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4526280" y="48463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treino base já está pronto.</a:t>
            </a:r>
            <a:endParaRPr lang="en-US" sz="1200" dirty="0"/>
          </a:p>
        </p:txBody>
      </p:sp>
      <p:sp>
        <p:nvSpPr>
          <p:cNvPr id="39" name="Etiqueta"/>
          <p:cNvSpPr/>
          <p:nvPr/>
        </p:nvSpPr>
        <p:spPr>
          <a:xfrm>
            <a:off x="4526280" y="5577840"/>
            <a:ext cx="3017520" cy="347472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26280" y="557784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Valor imediato</a:t>
            </a:r>
            <a:endParaRPr lang="en-US" sz="1100" dirty="0"/>
          </a:p>
        </p:txBody>
      </p:sp>
      <p:sp>
        <p:nvSpPr>
          <p:cNvPr id="41" name="Etapa"/>
          <p:cNvSpPr/>
          <p:nvPr/>
        </p:nvSpPr>
        <p:spPr>
          <a:xfrm>
            <a:off x="7955280" y="3931920"/>
            <a:ext cx="3474720" cy="2148840"/>
          </a:xfrm>
          <a:prstGeom prst="roundRect">
            <a:avLst>
              <a:gd name="adj" fmla="val 936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42" name="Número"/>
          <p:cNvSpPr/>
          <p:nvPr/>
        </p:nvSpPr>
        <p:spPr>
          <a:xfrm>
            <a:off x="8183880" y="4160520"/>
            <a:ext cx="502920" cy="502920"/>
          </a:xfrm>
          <a:prstGeom prst="ellipse">
            <a:avLst/>
          </a:prstGeom>
          <a:solidFill>
            <a:srgbClr val="9C5A74"/>
          </a:solidFill>
          <a:ln w="12700">
            <a:solidFill>
              <a:srgbClr val="9C5A74">
                <a:alpha val="0"/>
              </a:srgbClr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18388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DF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8823960" y="42062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Instalar no ecrã principal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8183880" y="48463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app passa a ser um ícone no telemóvel.</a:t>
            </a:r>
            <a:endParaRPr lang="en-US" sz="1200" dirty="0"/>
          </a:p>
        </p:txBody>
      </p:sp>
      <p:sp>
        <p:nvSpPr>
          <p:cNvPr id="46" name="Etiqueta"/>
          <p:cNvSpPr/>
          <p:nvPr/>
        </p:nvSpPr>
        <p:spPr>
          <a:xfrm>
            <a:off x="8183880" y="5577840"/>
            <a:ext cx="3017520" cy="347472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183880" y="557784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Criar hábito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MARKETING DA APP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Retenção e hábito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Retenção"/>
          <p:cNvSpPr/>
          <p:nvPr/>
        </p:nvSpPr>
        <p:spPr>
          <a:xfrm>
            <a:off x="640080" y="1600200"/>
            <a:ext cx="5394960" cy="1874520"/>
          </a:xfrm>
          <a:prstGeom prst="roundRect">
            <a:avLst>
              <a:gd name="adj" fmla="val 1073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Ícone"/>
          <p:cNvSpPr/>
          <p:nvPr/>
        </p:nvSpPr>
        <p:spPr>
          <a:xfrm>
            <a:off x="868680" y="182880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pic>
        <p:nvPicPr>
          <p:cNvPr id="8" name="Image 0" descr="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498" y="1969618"/>
            <a:ext cx="358445" cy="35844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737360" y="19659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Meta mensal e calendário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mês, uma meta de dias de treino, com anel de progresso e festa quando é batida.</a:t>
            </a:r>
            <a:endParaRPr lang="en-US" sz="1250" dirty="0"/>
          </a:p>
        </p:txBody>
      </p:sp>
      <p:sp>
        <p:nvSpPr>
          <p:cNvPr id="11" name="Retenção"/>
          <p:cNvSpPr/>
          <p:nvPr/>
        </p:nvSpPr>
        <p:spPr>
          <a:xfrm>
            <a:off x="6126480" y="1600200"/>
            <a:ext cx="5394960" cy="1874520"/>
          </a:xfrm>
          <a:prstGeom prst="roundRect">
            <a:avLst>
              <a:gd name="adj" fmla="val 1073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2" name="Ícone"/>
          <p:cNvSpPr/>
          <p:nvPr/>
        </p:nvSpPr>
        <p:spPr>
          <a:xfrm>
            <a:off x="6355080" y="182880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13" name="Image 1" descr="tre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5898" y="1969618"/>
            <a:ext cx="358445" cy="35844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223760" y="19659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Resumo do mês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355080" y="26060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Linguagem simpática, a melhor carga de cada exercício e uma "próxima missão".</a:t>
            </a:r>
            <a:endParaRPr lang="en-US" sz="1250" dirty="0"/>
          </a:p>
        </p:txBody>
      </p:sp>
      <p:sp>
        <p:nvSpPr>
          <p:cNvPr id="16" name="Retenção"/>
          <p:cNvSpPr/>
          <p:nvPr/>
        </p:nvSpPr>
        <p:spPr>
          <a:xfrm>
            <a:off x="640080" y="3657600"/>
            <a:ext cx="5394960" cy="1874520"/>
          </a:xfrm>
          <a:prstGeom prst="roundRect">
            <a:avLst>
              <a:gd name="adj" fmla="val 1073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7" name="Ícone"/>
          <p:cNvSpPr/>
          <p:nvPr/>
        </p:nvSpPr>
        <p:spPr>
          <a:xfrm>
            <a:off x="868680" y="388620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pic>
        <p:nvPicPr>
          <p:cNvPr id="18" name="Image 2" descr="tim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9498" y="4027018"/>
            <a:ext cx="358445" cy="35844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737360" y="40233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Temporizador de descanso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868680" y="46634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Mostra a contagem numa notificação e toca um alarme no fim, mesmo com a app fechada.</a:t>
            </a:r>
            <a:endParaRPr lang="en-US" sz="1250" dirty="0"/>
          </a:p>
        </p:txBody>
      </p:sp>
      <p:sp>
        <p:nvSpPr>
          <p:cNvPr id="21" name="Retenção"/>
          <p:cNvSpPr/>
          <p:nvPr/>
        </p:nvSpPr>
        <p:spPr>
          <a:xfrm>
            <a:off x="6126480" y="3657600"/>
            <a:ext cx="5394960" cy="1874520"/>
          </a:xfrm>
          <a:prstGeom prst="roundRect">
            <a:avLst>
              <a:gd name="adj" fmla="val 1073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2" name="Ícone"/>
          <p:cNvSpPr/>
          <p:nvPr/>
        </p:nvSpPr>
        <p:spPr>
          <a:xfrm>
            <a:off x="6355080" y="388620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pic>
        <p:nvPicPr>
          <p:cNvPr id="23" name="Image 3" descr="targ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5898" y="4027018"/>
            <a:ext cx="358445" cy="35844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223760" y="40233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Relevância pessoal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6355080" y="46634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objetivo escolhido ajusta a alimentação e as mensagens, e o ciclo (opcional) liga o treino à energia do mês.</a:t>
            </a:r>
            <a:endParaRPr lang="en-US" sz="1250" dirty="0"/>
          </a:p>
        </p:txBody>
      </p:sp>
      <p:sp>
        <p:nvSpPr>
          <p:cNvPr id="26" name="Observado"/>
          <p:cNvSpPr/>
          <p:nvPr/>
        </p:nvSpPr>
        <p:spPr>
          <a:xfrm>
            <a:off x="640080" y="5760720"/>
            <a:ext cx="10881360" cy="594360"/>
          </a:xfrm>
          <a:prstGeom prst="roundRect">
            <a:avLst>
              <a:gd name="adj" fmla="val 33846"/>
            </a:avLst>
          </a:prstGeom>
          <a:solidFill>
            <a:srgbClr val="D9CFF0">
              <a:alpha val="60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914400" y="585216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Observado no teste de usabilidade: usam a app em cada treino e vão ao Progresso no fim para ver o treino do dia.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MARKETING DA APP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Prova social: o que dizem as utilizadoras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Testemunho"/>
          <p:cNvSpPr/>
          <p:nvPr/>
        </p:nvSpPr>
        <p:spPr>
          <a:xfrm>
            <a:off x="640080" y="1645920"/>
            <a:ext cx="5394960" cy="2057400"/>
          </a:xfrm>
          <a:prstGeom prst="roundRect">
            <a:avLst>
              <a:gd name="adj" fmla="val 9778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Aspas"/>
          <p:cNvSpPr/>
          <p:nvPr/>
        </p:nvSpPr>
        <p:spPr>
          <a:xfrm>
            <a:off x="868680" y="1874520"/>
            <a:ext cx="548640" cy="548640"/>
          </a:xfrm>
          <a:prstGeom prst="roundRect">
            <a:avLst>
              <a:gd name="adj" fmla="val 33333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1874520"/>
            <a:ext cx="4206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mudou a minha forma de ver o ginásio, agora já não é um bicho de 7 cabeças!</a:t>
            </a:r>
            <a:endParaRPr lang="en-US" sz="1600" dirty="0"/>
          </a:p>
        </p:txBody>
      </p:sp>
      <p:sp>
        <p:nvSpPr>
          <p:cNvPr id="10" name="Testemunho"/>
          <p:cNvSpPr/>
          <p:nvPr/>
        </p:nvSpPr>
        <p:spPr>
          <a:xfrm>
            <a:off x="6126480" y="1645920"/>
            <a:ext cx="5394960" cy="2057400"/>
          </a:xfrm>
          <a:prstGeom prst="roundRect">
            <a:avLst>
              <a:gd name="adj" fmla="val 9778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1" name="Aspas"/>
          <p:cNvSpPr/>
          <p:nvPr/>
        </p:nvSpPr>
        <p:spPr>
          <a:xfrm>
            <a:off x="6355080" y="1874520"/>
            <a:ext cx="548640" cy="548640"/>
          </a:xfrm>
          <a:prstGeom prst="roundRect">
            <a:avLst>
              <a:gd name="adj" fmla="val 33333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7086600" y="1874520"/>
            <a:ext cx="4206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Agora quase que só tenho que me preocupar em executar bem os exercícios... sei o que fazer todos os dias e com facilidade.</a:t>
            </a:r>
            <a:endParaRPr lang="en-US" sz="1600" dirty="0"/>
          </a:p>
        </p:txBody>
      </p:sp>
      <p:sp>
        <p:nvSpPr>
          <p:cNvPr id="14" name="Testemunho"/>
          <p:cNvSpPr/>
          <p:nvPr/>
        </p:nvSpPr>
        <p:spPr>
          <a:xfrm>
            <a:off x="640080" y="3886200"/>
            <a:ext cx="5394960" cy="2057400"/>
          </a:xfrm>
          <a:prstGeom prst="roundRect">
            <a:avLst>
              <a:gd name="adj" fmla="val 9778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5" name="Aspas"/>
          <p:cNvSpPr/>
          <p:nvPr/>
        </p:nvSpPr>
        <p:spPr>
          <a:xfrm>
            <a:off x="868680" y="4114800"/>
            <a:ext cx="548640" cy="548640"/>
          </a:xfrm>
          <a:prstGeom prst="roundRect">
            <a:avLst>
              <a:gd name="adj" fmla="val 33333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68680" y="41422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114800"/>
            <a:ext cx="4206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Sinto-me mais motivada para ir ao ginásio com uma app tão bonita!</a:t>
            </a:r>
            <a:endParaRPr lang="en-US" sz="1600" dirty="0"/>
          </a:p>
        </p:txBody>
      </p:sp>
      <p:sp>
        <p:nvSpPr>
          <p:cNvPr id="18" name="Testemunho"/>
          <p:cNvSpPr/>
          <p:nvPr/>
        </p:nvSpPr>
        <p:spPr>
          <a:xfrm>
            <a:off x="6126480" y="3886200"/>
            <a:ext cx="5394960" cy="2057400"/>
          </a:xfrm>
          <a:prstGeom prst="roundRect">
            <a:avLst>
              <a:gd name="adj" fmla="val 9778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9" name="Aspas"/>
          <p:cNvSpPr/>
          <p:nvPr/>
        </p:nvSpPr>
        <p:spPr>
          <a:xfrm>
            <a:off x="6355080" y="4114800"/>
            <a:ext cx="548640" cy="548640"/>
          </a:xfrm>
          <a:prstGeom prst="roundRect">
            <a:avLst>
              <a:gd name="adj" fmla="val 33333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55080" y="41422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</a:t>
            </a:r>
            <a:endParaRPr lang="en-US" sz="3200" dirty="0"/>
          </a:p>
        </p:txBody>
      </p:sp>
      <p:sp>
        <p:nvSpPr>
          <p:cNvPr id="21" name="Text 19"/>
          <p:cNvSpPr txBox="1"/>
          <p:nvPr/>
        </p:nvSpPr>
        <p:spPr>
          <a:xfrm>
            <a:off x="7086600" y="4114800"/>
            <a:ext cx="4206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life changer!!!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172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Cinco mulheres entre os 25 e os 65 anos usaram a app. Testemunhos reais, com a ortografia corrigida.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MARKETING DA APP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Métricas e próximos passos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Métricas"/>
          <p:cNvSpPr/>
          <p:nvPr/>
        </p:nvSpPr>
        <p:spPr>
          <a:xfrm>
            <a:off x="640080" y="1554480"/>
            <a:ext cx="5394960" cy="4480560"/>
          </a:xfrm>
          <a:prstGeom prst="roundRect">
            <a:avLst>
              <a:gd name="adj" fmla="val 449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Ícone"/>
          <p:cNvSpPr/>
          <p:nvPr/>
        </p:nvSpPr>
        <p:spPr>
          <a:xfrm>
            <a:off x="868680" y="178308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8" name="Image 0" descr="tre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439" y="1913839"/>
            <a:ext cx="332842" cy="33284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45920" y="18745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Métricas a acompanhar (propostas)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5176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Convites enviados face a contas criadas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Quantas completam os 3 passos do registo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Tempo até ao primeiro treino registado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Treinos por semana e meta mensal batida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Retenção ao fim de 30 dias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Pergunta: "recomendarias a uma amiga?" (0 a 10)</a:t>
            </a:r>
            <a:endParaRPr lang="en-US" sz="1300" dirty="0"/>
          </a:p>
        </p:txBody>
      </p:sp>
      <p:sp>
        <p:nvSpPr>
          <p:cNvPr id="11" name="Próximos passos"/>
          <p:cNvSpPr/>
          <p:nvPr/>
        </p:nvSpPr>
        <p:spPr>
          <a:xfrm>
            <a:off x="6309360" y="1554480"/>
            <a:ext cx="5212080" cy="4480560"/>
          </a:xfrm>
          <a:prstGeom prst="roundRect">
            <a:avLst>
              <a:gd name="adj" fmla="val 449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2" name="Ícone"/>
          <p:cNvSpPr/>
          <p:nvPr/>
        </p:nvSpPr>
        <p:spPr>
          <a:xfrm>
            <a:off x="6537960" y="178308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pic>
        <p:nvPicPr>
          <p:cNvPr id="13" name="Image 1" descr="mess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8719" y="1913839"/>
            <a:ext cx="332842" cy="33284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315200" y="18745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Próximos passos de marketing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537960" y="2651760"/>
            <a:ext cx="4754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Mensagem de convite pronta para WhatsApp, com o link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Página de apresentação com capturas e o slogan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Cartão partilhável com os resultados do mês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Texto de privacidade para dados de saúde e ciclo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Decidir um nome único: NIJB ou Just Butts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640080" y="6172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métricas ainda não foram medidas: são propostas.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Cinco abas, cada uma responde a um problema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Barra de navegação"/>
          <p:cNvSpPr/>
          <p:nvPr/>
        </p:nvSpPr>
        <p:spPr>
          <a:xfrm>
            <a:off x="640080" y="1645920"/>
            <a:ext cx="10881360" cy="1005840"/>
          </a:xfrm>
          <a:prstGeom prst="roundRect">
            <a:avLst>
              <a:gd name="adj" fmla="val 45455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Aba ativa"/>
          <p:cNvSpPr/>
          <p:nvPr/>
        </p:nvSpPr>
        <p:spPr>
          <a:xfrm>
            <a:off x="822960" y="1755648"/>
            <a:ext cx="2011680" cy="786384"/>
          </a:xfrm>
          <a:prstGeom prst="roundRect">
            <a:avLst>
              <a:gd name="adj" fmla="val 46512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8" name="Image 0" descr="dumbbe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892808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63040" y="189280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Treino</a:t>
            </a:r>
            <a:endParaRPr lang="en-US" sz="1400" dirty="0"/>
          </a:p>
        </p:txBody>
      </p:sp>
      <p:pic>
        <p:nvPicPr>
          <p:cNvPr id="10" name="Image 1" descr="lea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4680" y="1892808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11880" y="189280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Alimentação</a:t>
            </a:r>
            <a:endParaRPr lang="en-US" sz="1400" dirty="0"/>
          </a:p>
        </p:txBody>
      </p:sp>
      <p:pic>
        <p:nvPicPr>
          <p:cNvPr id="12" name="Image 2" descr="activit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0" y="1892808"/>
            <a:ext cx="365760" cy="3657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760720" y="189280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Medições</a:t>
            </a:r>
            <a:endParaRPr lang="en-US" sz="1400" dirty="0"/>
          </a:p>
        </p:txBody>
      </p:sp>
      <p:pic>
        <p:nvPicPr>
          <p:cNvPr id="14" name="Image 3" descr="tre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0" y="1892808"/>
            <a:ext cx="365760" cy="3657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909560" y="189280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Progresso</a:t>
            </a:r>
            <a:endParaRPr lang="en-US" sz="1400" dirty="0"/>
          </a:p>
        </p:txBody>
      </p:sp>
      <p:pic>
        <p:nvPicPr>
          <p:cNvPr id="16" name="Image 4" descr="us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0" y="1892808"/>
            <a:ext cx="365760" cy="36576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0058400" y="189280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Perfil</a:t>
            </a:r>
            <a:endParaRPr lang="en-US" sz="1400" dirty="0"/>
          </a:p>
        </p:txBody>
      </p:sp>
      <p:sp>
        <p:nvSpPr>
          <p:cNvPr id="18" name="Aba"/>
          <p:cNvSpPr/>
          <p:nvPr/>
        </p:nvSpPr>
        <p:spPr>
          <a:xfrm>
            <a:off x="640080" y="3017520"/>
            <a:ext cx="2057400" cy="3108960"/>
          </a:xfrm>
          <a:prstGeom prst="roundRect">
            <a:avLst>
              <a:gd name="adj" fmla="val 9778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9" name="Ícone"/>
          <p:cNvSpPr/>
          <p:nvPr/>
        </p:nvSpPr>
        <p:spPr>
          <a:xfrm>
            <a:off x="822960" y="320040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pic>
        <p:nvPicPr>
          <p:cNvPr id="20" name="Image 5" descr="dumbbel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3778" y="3341218"/>
            <a:ext cx="358445" cy="358445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22960" y="3977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Treino</a:t>
            </a:r>
            <a:endParaRPr lang="en-US" sz="1600" dirty="0"/>
          </a:p>
        </p:txBody>
      </p:sp>
      <p:sp>
        <p:nvSpPr>
          <p:cNvPr id="22" name="Text 14"/>
          <p:cNvSpPr txBox="1"/>
          <p:nvPr/>
        </p:nvSpPr>
        <p:spPr>
          <a:xfrm>
            <a:off x="822960" y="443484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saber o que fazer nem que carga usar</a:t>
            </a:r>
            <a:endParaRPr lang="en-US" sz="1250" dirty="0"/>
          </a:p>
        </p:txBody>
      </p:sp>
      <p:sp>
        <p:nvSpPr>
          <p:cNvPr id="23" name="Aba"/>
          <p:cNvSpPr/>
          <p:nvPr/>
        </p:nvSpPr>
        <p:spPr>
          <a:xfrm>
            <a:off x="2834640" y="3017520"/>
            <a:ext cx="2057400" cy="3108960"/>
          </a:xfrm>
          <a:prstGeom prst="roundRect">
            <a:avLst>
              <a:gd name="adj" fmla="val 9778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4" name="Ícone"/>
          <p:cNvSpPr/>
          <p:nvPr/>
        </p:nvSpPr>
        <p:spPr>
          <a:xfrm>
            <a:off x="3017520" y="320040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pic>
        <p:nvPicPr>
          <p:cNvPr id="25" name="Image 6" descr="leaf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58338" y="3341218"/>
            <a:ext cx="358445" cy="358445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3017520" y="3977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Alimentação</a:t>
            </a:r>
            <a:endParaRPr lang="en-US" sz="1600" dirty="0"/>
          </a:p>
        </p:txBody>
      </p:sp>
      <p:sp>
        <p:nvSpPr>
          <p:cNvPr id="27" name="Text 18"/>
          <p:cNvSpPr txBox="1"/>
          <p:nvPr/>
        </p:nvSpPr>
        <p:spPr>
          <a:xfrm>
            <a:off x="3017520" y="443484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Ter tudo organizado no mesmo sítio</a:t>
            </a:r>
            <a:endParaRPr lang="en-US" sz="1250" dirty="0"/>
          </a:p>
        </p:txBody>
      </p:sp>
      <p:sp>
        <p:nvSpPr>
          <p:cNvPr id="28" name="Aba"/>
          <p:cNvSpPr/>
          <p:nvPr/>
        </p:nvSpPr>
        <p:spPr>
          <a:xfrm>
            <a:off x="5029200" y="3017520"/>
            <a:ext cx="2057400" cy="3108960"/>
          </a:xfrm>
          <a:prstGeom prst="roundRect">
            <a:avLst>
              <a:gd name="adj" fmla="val 9778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9" name="Ícone"/>
          <p:cNvSpPr/>
          <p:nvPr/>
        </p:nvSpPr>
        <p:spPr>
          <a:xfrm>
            <a:off x="5212080" y="320040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pic>
        <p:nvPicPr>
          <p:cNvPr id="30" name="Image 7" descr="activity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52898" y="3341218"/>
            <a:ext cx="358445" cy="358445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5212080" y="3977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Medições</a:t>
            </a:r>
            <a:endParaRPr lang="en-US" sz="1600" dirty="0"/>
          </a:p>
        </p:txBody>
      </p:sp>
      <p:sp>
        <p:nvSpPr>
          <p:cNvPr id="32" name="Text 22"/>
          <p:cNvSpPr txBox="1"/>
          <p:nvPr/>
        </p:nvSpPr>
        <p:spPr>
          <a:xfrm>
            <a:off x="5212080" y="443484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Acompanhar a evolução do corpo</a:t>
            </a:r>
            <a:endParaRPr lang="en-US" sz="1250" dirty="0"/>
          </a:p>
        </p:txBody>
      </p:sp>
      <p:sp>
        <p:nvSpPr>
          <p:cNvPr id="33" name="Aba"/>
          <p:cNvSpPr/>
          <p:nvPr/>
        </p:nvSpPr>
        <p:spPr>
          <a:xfrm>
            <a:off x="7223760" y="3017520"/>
            <a:ext cx="2057400" cy="3108960"/>
          </a:xfrm>
          <a:prstGeom prst="roundRect">
            <a:avLst>
              <a:gd name="adj" fmla="val 9778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4" name="Ícone"/>
          <p:cNvSpPr/>
          <p:nvPr/>
        </p:nvSpPr>
        <p:spPr>
          <a:xfrm>
            <a:off x="7406640" y="320040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35" name="Image 8" descr="trend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47458" y="3341218"/>
            <a:ext cx="358445" cy="358445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7406640" y="3977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Progresso</a:t>
            </a:r>
            <a:endParaRPr lang="en-US" sz="1600" dirty="0"/>
          </a:p>
        </p:txBody>
      </p:sp>
      <p:sp>
        <p:nvSpPr>
          <p:cNvPr id="37" name="Text 26"/>
          <p:cNvSpPr txBox="1"/>
          <p:nvPr/>
        </p:nvSpPr>
        <p:spPr>
          <a:xfrm>
            <a:off x="7406640" y="443484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Falta de motivação e de objetivo claro</a:t>
            </a:r>
            <a:endParaRPr lang="en-US" sz="1250" dirty="0"/>
          </a:p>
        </p:txBody>
      </p:sp>
      <p:sp>
        <p:nvSpPr>
          <p:cNvPr id="38" name="Aba"/>
          <p:cNvSpPr/>
          <p:nvPr/>
        </p:nvSpPr>
        <p:spPr>
          <a:xfrm>
            <a:off x="9418320" y="3017520"/>
            <a:ext cx="2057400" cy="3108960"/>
          </a:xfrm>
          <a:prstGeom prst="roundRect">
            <a:avLst>
              <a:gd name="adj" fmla="val 9778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9" name="Ícone"/>
          <p:cNvSpPr/>
          <p:nvPr/>
        </p:nvSpPr>
        <p:spPr>
          <a:xfrm>
            <a:off x="9601200" y="320040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pic>
        <p:nvPicPr>
          <p:cNvPr id="40" name="Image 9" descr="user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42018" y="3341218"/>
            <a:ext cx="358445" cy="358445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9601200" y="3977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Perfil</a:t>
            </a:r>
            <a:endParaRPr lang="en-US" sz="1600" dirty="0"/>
          </a:p>
        </p:txBody>
      </p:sp>
      <p:sp>
        <p:nvSpPr>
          <p:cNvPr id="42" name="Text 30"/>
          <p:cNvSpPr txBox="1"/>
          <p:nvPr/>
        </p:nvSpPr>
        <p:spPr>
          <a:xfrm>
            <a:off x="9601200" y="443484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Personalizar a experiência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 · ABA 1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Treino: sempre claro o que fazer a seguir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1000" dirty="0"/>
          </a:p>
        </p:txBody>
      </p:sp>
      <p:pic>
        <p:nvPicPr>
          <p:cNvPr id="6" name="Image 0" descr="Captura de ecrã da app: trein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2492248" cy="5029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114800" y="1645920"/>
            <a:ext cx="74066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Exercícios de força por grupo: pernas, glúteos, costas, peito, bíceps, tríceps, ombros e abs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Cardio: passadeira, bicicleta, escadas e elíptica, e outras modalidades como natação, corrida ou ténis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exercício tem a técnica explicada, os erros comuns a evitar e o nível de esforço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Registo por série: repetições e carga; no cardio, duração ou distância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melhor carga anterior aparece no próprio exercício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Temporizador de descanso com o tempo recomendado</a:t>
            </a:r>
            <a:endParaRPr lang="en-US" sz="1500" dirty="0"/>
          </a:p>
        </p:txBody>
      </p:sp>
      <p:sp>
        <p:nvSpPr>
          <p:cNvPr id="8" name="Objetivo"/>
          <p:cNvSpPr/>
          <p:nvPr/>
        </p:nvSpPr>
        <p:spPr>
          <a:xfrm>
            <a:off x="4114800" y="5440680"/>
            <a:ext cx="7406640" cy="777240"/>
          </a:xfrm>
          <a:prstGeom prst="roundRect">
            <a:avLst>
              <a:gd name="adj" fmla="val 25882"/>
            </a:avLst>
          </a:prstGeom>
          <a:solidFill>
            <a:srgbClr val="C6E8DC">
              <a:alpha val="65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pic>
        <p:nvPicPr>
          <p:cNvPr id="9" name="Image 1" descr="targ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5623560"/>
            <a:ext cx="411480" cy="4114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937760" y="56692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Objetivo: não ser preciso decidir tudo no momento.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 · ABA 1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Treino: o que há dentro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Coluna"/>
          <p:cNvSpPr/>
          <p:nvPr/>
        </p:nvSpPr>
        <p:spPr>
          <a:xfrm>
            <a:off x="640080" y="1645920"/>
            <a:ext cx="3474720" cy="4389120"/>
          </a:xfrm>
          <a:prstGeom prst="roundRect">
            <a:avLst>
              <a:gd name="adj" fmla="val 5789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Ícone"/>
          <p:cNvSpPr/>
          <p:nvPr/>
        </p:nvSpPr>
        <p:spPr>
          <a:xfrm>
            <a:off x="868680" y="187452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pic>
        <p:nvPicPr>
          <p:cNvPr id="8" name="Image 0" descr="dumbbe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498" y="2015338"/>
            <a:ext cx="358445" cy="35844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9164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Força por grupo</a:t>
            </a:r>
            <a:endParaRPr lang="en-US" sz="1600" dirty="0"/>
          </a:p>
        </p:txBody>
      </p:sp>
      <p:sp>
        <p:nvSpPr>
          <p:cNvPr id="10" name="Etiqueta"/>
          <p:cNvSpPr/>
          <p:nvPr/>
        </p:nvSpPr>
        <p:spPr>
          <a:xfrm>
            <a:off x="868680" y="2834640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283464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Pernas</a:t>
            </a:r>
            <a:endParaRPr lang="en-US" sz="1100" dirty="0"/>
          </a:p>
        </p:txBody>
      </p:sp>
      <p:sp>
        <p:nvSpPr>
          <p:cNvPr id="12" name="Etiqueta"/>
          <p:cNvSpPr/>
          <p:nvPr/>
        </p:nvSpPr>
        <p:spPr>
          <a:xfrm>
            <a:off x="2468880" y="2834640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68880" y="283464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Glúteos</a:t>
            </a:r>
            <a:endParaRPr lang="en-US" sz="1100" dirty="0"/>
          </a:p>
        </p:txBody>
      </p:sp>
      <p:sp>
        <p:nvSpPr>
          <p:cNvPr id="14" name="Etiqueta"/>
          <p:cNvSpPr/>
          <p:nvPr/>
        </p:nvSpPr>
        <p:spPr>
          <a:xfrm>
            <a:off x="868680" y="3401568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680" y="3401568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Costas</a:t>
            </a:r>
            <a:endParaRPr lang="en-US" sz="1100" dirty="0"/>
          </a:p>
        </p:txBody>
      </p:sp>
      <p:sp>
        <p:nvSpPr>
          <p:cNvPr id="16" name="Etiqueta"/>
          <p:cNvSpPr/>
          <p:nvPr/>
        </p:nvSpPr>
        <p:spPr>
          <a:xfrm>
            <a:off x="2468880" y="3401568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468880" y="3401568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Peito</a:t>
            </a:r>
            <a:endParaRPr lang="en-US" sz="1100" dirty="0"/>
          </a:p>
        </p:txBody>
      </p:sp>
      <p:sp>
        <p:nvSpPr>
          <p:cNvPr id="18" name="Etiqueta"/>
          <p:cNvSpPr/>
          <p:nvPr/>
        </p:nvSpPr>
        <p:spPr>
          <a:xfrm>
            <a:off x="868680" y="3968496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8680" y="3968496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Bíceps</a:t>
            </a:r>
            <a:endParaRPr lang="en-US" sz="1100" dirty="0"/>
          </a:p>
        </p:txBody>
      </p:sp>
      <p:sp>
        <p:nvSpPr>
          <p:cNvPr id="20" name="Etiqueta"/>
          <p:cNvSpPr/>
          <p:nvPr/>
        </p:nvSpPr>
        <p:spPr>
          <a:xfrm>
            <a:off x="2468880" y="3968496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468880" y="3968496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Tríceps</a:t>
            </a:r>
            <a:endParaRPr lang="en-US" sz="1100" dirty="0"/>
          </a:p>
        </p:txBody>
      </p:sp>
      <p:sp>
        <p:nvSpPr>
          <p:cNvPr id="22" name="Etiqueta"/>
          <p:cNvSpPr/>
          <p:nvPr/>
        </p:nvSpPr>
        <p:spPr>
          <a:xfrm>
            <a:off x="868680" y="4535424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68680" y="4535424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Ombros</a:t>
            </a:r>
            <a:endParaRPr lang="en-US" sz="1100" dirty="0"/>
          </a:p>
        </p:txBody>
      </p:sp>
      <p:sp>
        <p:nvSpPr>
          <p:cNvPr id="24" name="Etiqueta"/>
          <p:cNvSpPr/>
          <p:nvPr/>
        </p:nvSpPr>
        <p:spPr>
          <a:xfrm>
            <a:off x="2468880" y="4535424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468880" y="4535424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Abs</a:t>
            </a:r>
            <a:endParaRPr lang="en-US" sz="1100" dirty="0"/>
          </a:p>
        </p:txBody>
      </p:sp>
      <p:sp>
        <p:nvSpPr>
          <p:cNvPr id="26" name="Coluna"/>
          <p:cNvSpPr/>
          <p:nvPr/>
        </p:nvSpPr>
        <p:spPr>
          <a:xfrm>
            <a:off x="4297680" y="1645920"/>
            <a:ext cx="3474720" cy="4389120"/>
          </a:xfrm>
          <a:prstGeom prst="roundRect">
            <a:avLst>
              <a:gd name="adj" fmla="val 5789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7" name="Ícone"/>
          <p:cNvSpPr/>
          <p:nvPr/>
        </p:nvSpPr>
        <p:spPr>
          <a:xfrm>
            <a:off x="4526280" y="187452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pic>
        <p:nvPicPr>
          <p:cNvPr id="28" name="Image 1" descr="activit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098" y="2015338"/>
            <a:ext cx="358445" cy="358445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534924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Cardio e desportos</a:t>
            </a:r>
            <a:endParaRPr lang="en-US" sz="1600" dirty="0"/>
          </a:p>
        </p:txBody>
      </p:sp>
      <p:sp>
        <p:nvSpPr>
          <p:cNvPr id="30" name="Etiqueta"/>
          <p:cNvSpPr/>
          <p:nvPr/>
        </p:nvSpPr>
        <p:spPr>
          <a:xfrm>
            <a:off x="4526280" y="2834640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526280" y="283464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Passadeira</a:t>
            </a:r>
            <a:endParaRPr lang="en-US" sz="1100" dirty="0"/>
          </a:p>
        </p:txBody>
      </p:sp>
      <p:sp>
        <p:nvSpPr>
          <p:cNvPr id="32" name="Etiqueta"/>
          <p:cNvSpPr/>
          <p:nvPr/>
        </p:nvSpPr>
        <p:spPr>
          <a:xfrm>
            <a:off x="6126480" y="2834640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126480" y="283464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Bicicleta</a:t>
            </a:r>
            <a:endParaRPr lang="en-US" sz="1100" dirty="0"/>
          </a:p>
        </p:txBody>
      </p:sp>
      <p:sp>
        <p:nvSpPr>
          <p:cNvPr id="34" name="Etiqueta"/>
          <p:cNvSpPr/>
          <p:nvPr/>
        </p:nvSpPr>
        <p:spPr>
          <a:xfrm>
            <a:off x="4526280" y="3401568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4526280" y="3401568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Escadas</a:t>
            </a:r>
            <a:endParaRPr lang="en-US" sz="1100" dirty="0"/>
          </a:p>
        </p:txBody>
      </p:sp>
      <p:sp>
        <p:nvSpPr>
          <p:cNvPr id="36" name="Etiqueta"/>
          <p:cNvSpPr/>
          <p:nvPr/>
        </p:nvSpPr>
        <p:spPr>
          <a:xfrm>
            <a:off x="6126480" y="3401568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126480" y="3401568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Elíptica</a:t>
            </a:r>
            <a:endParaRPr lang="en-US" sz="1100" dirty="0"/>
          </a:p>
        </p:txBody>
      </p:sp>
      <p:sp>
        <p:nvSpPr>
          <p:cNvPr id="38" name="Etiqueta"/>
          <p:cNvSpPr/>
          <p:nvPr/>
        </p:nvSpPr>
        <p:spPr>
          <a:xfrm>
            <a:off x="4526280" y="3968496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526280" y="3968496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Natação</a:t>
            </a:r>
            <a:endParaRPr lang="en-US" sz="1100" dirty="0"/>
          </a:p>
        </p:txBody>
      </p:sp>
      <p:sp>
        <p:nvSpPr>
          <p:cNvPr id="40" name="Etiqueta"/>
          <p:cNvSpPr/>
          <p:nvPr/>
        </p:nvSpPr>
        <p:spPr>
          <a:xfrm>
            <a:off x="6126480" y="3968496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126480" y="3968496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Corrida</a:t>
            </a:r>
            <a:endParaRPr lang="en-US" sz="1100" dirty="0"/>
          </a:p>
        </p:txBody>
      </p:sp>
      <p:sp>
        <p:nvSpPr>
          <p:cNvPr id="42" name="Etiqueta"/>
          <p:cNvSpPr/>
          <p:nvPr/>
        </p:nvSpPr>
        <p:spPr>
          <a:xfrm>
            <a:off x="4526280" y="4535424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4526280" y="4535424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Ténis</a:t>
            </a:r>
            <a:endParaRPr lang="en-US" sz="1100" dirty="0"/>
          </a:p>
        </p:txBody>
      </p:sp>
      <p:sp>
        <p:nvSpPr>
          <p:cNvPr id="44" name="Coluna"/>
          <p:cNvSpPr/>
          <p:nvPr/>
        </p:nvSpPr>
        <p:spPr>
          <a:xfrm>
            <a:off x="7955280" y="1645920"/>
            <a:ext cx="3474720" cy="4389120"/>
          </a:xfrm>
          <a:prstGeom prst="roundRect">
            <a:avLst>
              <a:gd name="adj" fmla="val 5789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45" name="Ícone"/>
          <p:cNvSpPr/>
          <p:nvPr/>
        </p:nvSpPr>
        <p:spPr>
          <a:xfrm>
            <a:off x="8183880" y="187452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46" name="Image 2" descr="tim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4698" y="2015338"/>
            <a:ext cx="358445" cy="358445"/>
          </a:xfrm>
          <a:prstGeom prst="rect">
            <a:avLst/>
          </a:prstGeom>
        </p:spPr>
      </p:pic>
      <p:sp>
        <p:nvSpPr>
          <p:cNvPr id="47" name="Text 42"/>
          <p:cNvSpPr txBox="1"/>
          <p:nvPr/>
        </p:nvSpPr>
        <p:spPr>
          <a:xfrm>
            <a:off x="900684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Ferramentas</a:t>
            </a:r>
            <a:endParaRPr lang="en-US" sz="1600" dirty="0"/>
          </a:p>
        </p:txBody>
      </p:sp>
      <p:sp>
        <p:nvSpPr>
          <p:cNvPr id="48" name="Etiqueta"/>
          <p:cNvSpPr/>
          <p:nvPr/>
        </p:nvSpPr>
        <p:spPr>
          <a:xfrm>
            <a:off x="8183880" y="2834640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sp>
        <p:nvSpPr>
          <p:cNvPr id="49" name="Text 44"/>
          <p:cNvSpPr txBox="1"/>
          <p:nvPr/>
        </p:nvSpPr>
        <p:spPr>
          <a:xfrm>
            <a:off x="8183880" y="283464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Registo por série</a:t>
            </a:r>
            <a:endParaRPr lang="en-US" sz="1100" dirty="0"/>
          </a:p>
        </p:txBody>
      </p:sp>
      <p:sp>
        <p:nvSpPr>
          <p:cNvPr id="50" name="Etiqueta"/>
          <p:cNvSpPr/>
          <p:nvPr/>
        </p:nvSpPr>
        <p:spPr>
          <a:xfrm>
            <a:off x="9784080" y="2834640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9784080" y="283464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Melhor carga anterior</a:t>
            </a:r>
            <a:endParaRPr lang="en-US" sz="1100" dirty="0"/>
          </a:p>
        </p:txBody>
      </p:sp>
      <p:sp>
        <p:nvSpPr>
          <p:cNvPr id="52" name="Etiqueta"/>
          <p:cNvSpPr/>
          <p:nvPr/>
        </p:nvSpPr>
        <p:spPr>
          <a:xfrm>
            <a:off x="8183880" y="3401568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sp>
        <p:nvSpPr>
          <p:cNvPr id="53" name="Text 48"/>
          <p:cNvSpPr txBox="1"/>
          <p:nvPr/>
        </p:nvSpPr>
        <p:spPr>
          <a:xfrm>
            <a:off x="8183880" y="3401568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Temporizador de descanso</a:t>
            </a:r>
            <a:endParaRPr lang="en-US" sz="1100" dirty="0"/>
          </a:p>
        </p:txBody>
      </p:sp>
      <p:sp>
        <p:nvSpPr>
          <p:cNvPr id="54" name="Etiqueta"/>
          <p:cNvSpPr/>
          <p:nvPr/>
        </p:nvSpPr>
        <p:spPr>
          <a:xfrm>
            <a:off x="9784080" y="3401568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sp>
        <p:nvSpPr>
          <p:cNvPr id="55" name="Text 50"/>
          <p:cNvSpPr txBox="1"/>
          <p:nvPr/>
        </p:nvSpPr>
        <p:spPr>
          <a:xfrm>
            <a:off x="9784080" y="3401568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Aquecimento e alongamentos</a:t>
            </a:r>
            <a:endParaRPr lang="en-US" sz="1100" dirty="0"/>
          </a:p>
        </p:txBody>
      </p:sp>
      <p:sp>
        <p:nvSpPr>
          <p:cNvPr id="56" name="Etiqueta"/>
          <p:cNvSpPr/>
          <p:nvPr/>
        </p:nvSpPr>
        <p:spPr>
          <a:xfrm>
            <a:off x="8183880" y="3968496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sp>
        <p:nvSpPr>
          <p:cNvPr id="57" name="Text 52"/>
          <p:cNvSpPr txBox="1"/>
          <p:nvPr/>
        </p:nvSpPr>
        <p:spPr>
          <a:xfrm>
            <a:off x="8183880" y="3968496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Exercícios próprios</a:t>
            </a:r>
            <a:endParaRPr lang="en-US" sz="1100" dirty="0"/>
          </a:p>
        </p:txBody>
      </p:sp>
      <p:sp>
        <p:nvSpPr>
          <p:cNvPr id="58" name="Text 53"/>
          <p:cNvSpPr txBox="1"/>
          <p:nvPr/>
        </p:nvSpPr>
        <p:spPr>
          <a:xfrm>
            <a:off x="640080" y="60807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utilizadora também pode acrescentar os seus próprios exercícios a cada grupo.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 · ABA 1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Temporizador: avisa mesmo com a app fechada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Passo"/>
          <p:cNvSpPr/>
          <p:nvPr/>
        </p:nvSpPr>
        <p:spPr>
          <a:xfrm>
            <a:off x="640080" y="1600200"/>
            <a:ext cx="2560320" cy="2834640"/>
          </a:xfrm>
          <a:prstGeom prst="roundRect">
            <a:avLst>
              <a:gd name="adj" fmla="val 785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Ícone"/>
          <p:cNvSpPr/>
          <p:nvPr/>
        </p:nvSpPr>
        <p:spPr>
          <a:xfrm>
            <a:off x="868680" y="182880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pic>
        <p:nvPicPr>
          <p:cNvPr id="8" name="Image 0" descr="pl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498" y="1969618"/>
            <a:ext cx="358445" cy="35844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68680" y="2651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Inicia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063240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utilizadora toca em "Iniciar" no exercício e o descanso começa.</a:t>
            </a:r>
            <a:endParaRPr lang="en-US" sz="1200" dirty="0"/>
          </a:p>
        </p:txBody>
      </p:sp>
      <p:sp>
        <p:nvSpPr>
          <p:cNvPr id="11" name="Passo"/>
          <p:cNvSpPr/>
          <p:nvPr/>
        </p:nvSpPr>
        <p:spPr>
          <a:xfrm>
            <a:off x="3383280" y="1600200"/>
            <a:ext cx="2560320" cy="2834640"/>
          </a:xfrm>
          <a:prstGeom prst="roundRect">
            <a:avLst>
              <a:gd name="adj" fmla="val 785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2" name="Ícone"/>
          <p:cNvSpPr/>
          <p:nvPr/>
        </p:nvSpPr>
        <p:spPr>
          <a:xfrm>
            <a:off x="3611880" y="182880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13" name="Image 1" descr="tim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2698" y="1969618"/>
            <a:ext cx="358445" cy="35844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611880" y="2651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Conta pelo relógio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3611880" y="3063240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tempo é contado pelo relógio do telemóvel, por isso nunca fica errado.</a:t>
            </a:r>
            <a:endParaRPr lang="en-US" sz="1200" dirty="0"/>
          </a:p>
        </p:txBody>
      </p:sp>
      <p:sp>
        <p:nvSpPr>
          <p:cNvPr id="16" name="Passo"/>
          <p:cNvSpPr/>
          <p:nvPr/>
        </p:nvSpPr>
        <p:spPr>
          <a:xfrm>
            <a:off x="6126480" y="1600200"/>
            <a:ext cx="2560320" cy="2834640"/>
          </a:xfrm>
          <a:prstGeom prst="roundRect">
            <a:avLst>
              <a:gd name="adj" fmla="val 785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7" name="Ícone"/>
          <p:cNvSpPr/>
          <p:nvPr/>
        </p:nvSpPr>
        <p:spPr>
          <a:xfrm>
            <a:off x="6355080" y="182880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pic>
        <p:nvPicPr>
          <p:cNvPr id="18" name="Image 2" descr="mess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5898" y="1969618"/>
            <a:ext cx="358445" cy="35844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355080" y="2651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Notificação com a contagem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6355080" y="3063240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 a app em segundo plano, aparece uma notificação multimédia com o exercício, o tempo e a barra de progresso.</a:t>
            </a:r>
            <a:endParaRPr lang="en-US" sz="1200" dirty="0"/>
          </a:p>
        </p:txBody>
      </p:sp>
      <p:sp>
        <p:nvSpPr>
          <p:cNvPr id="21" name="Passo"/>
          <p:cNvSpPr/>
          <p:nvPr/>
        </p:nvSpPr>
        <p:spPr>
          <a:xfrm>
            <a:off x="8869680" y="1600200"/>
            <a:ext cx="2560320" cy="2834640"/>
          </a:xfrm>
          <a:prstGeom prst="roundRect">
            <a:avLst>
              <a:gd name="adj" fmla="val 785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2" name="Ícone"/>
          <p:cNvSpPr/>
          <p:nvPr/>
        </p:nvSpPr>
        <p:spPr>
          <a:xfrm>
            <a:off x="9098280" y="182880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23" name="Image 3" descr="st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098" y="1969618"/>
            <a:ext cx="358445" cy="35844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098280" y="2651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Alarme no fim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9098280" y="3063240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Quando o descanso acaba, toca um alarme sonoro e aparece o aviso "Descanso terminado".</a:t>
            </a:r>
            <a:endParaRPr lang="en-US" sz="1200" dirty="0"/>
          </a:p>
        </p:txBody>
      </p:sp>
      <p:sp>
        <p:nvSpPr>
          <p:cNvPr id="26" name="Limites"/>
          <p:cNvSpPr/>
          <p:nvPr/>
        </p:nvSpPr>
        <p:spPr>
          <a:xfrm>
            <a:off x="640080" y="4663440"/>
            <a:ext cx="5303520" cy="1554480"/>
          </a:xfrm>
          <a:prstGeom prst="roundRect">
            <a:avLst>
              <a:gd name="adj" fmla="val 12941"/>
            </a:avLst>
          </a:prstGeom>
          <a:solidFill>
            <a:srgbClr val="FBDCC4">
              <a:alpha val="65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868680" y="47548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Limites de uma app web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868680" y="516636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página web não consegue mostrar um contador ao vivo na barra de tarefas. Usei a notificação multimédia, como a de um leitor de música.</a:t>
            </a:r>
            <a:endParaRPr lang="en-US" sz="1200" dirty="0"/>
          </a:p>
        </p:txBody>
      </p:sp>
      <p:sp>
        <p:nvSpPr>
          <p:cNvPr id="29" name="Porquê"/>
          <p:cNvSpPr/>
          <p:nvPr/>
        </p:nvSpPr>
        <p:spPr>
          <a:xfrm>
            <a:off x="6217920" y="4663440"/>
            <a:ext cx="5303520" cy="1554480"/>
          </a:xfrm>
          <a:prstGeom prst="roundRect">
            <a:avLst>
              <a:gd name="adj" fmla="val 12941"/>
            </a:avLst>
          </a:prstGeom>
          <a:solidFill>
            <a:srgbClr val="C6E8DC">
              <a:alpha val="65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0" name="Text 24"/>
          <p:cNvSpPr txBox="1"/>
          <p:nvPr/>
        </p:nvSpPr>
        <p:spPr>
          <a:xfrm>
            <a:off x="6446520" y="47548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Porquê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6446520" y="516636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teste de usabilidade, as pessoas fechavam a app com o temporizador a contar e perdiam o fim do descanso. Falta validar em telemóveis Android e iPhone.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 · ABA 2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Alimentação: orientação simples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1000" dirty="0"/>
          </a:p>
        </p:txBody>
      </p:sp>
      <p:pic>
        <p:nvPicPr>
          <p:cNvPr id="6" name="Image 0" descr="Captura de ecrã da app: alimentaca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325880"/>
            <a:ext cx="2492248" cy="502920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640080" y="1645920"/>
            <a:ext cx="6583680" cy="960120"/>
          </a:xfrm>
          <a:prstGeom prst="roundRect">
            <a:avLst>
              <a:gd name="adj" fmla="val 2095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8" name="Ícone"/>
          <p:cNvSpPr/>
          <p:nvPr/>
        </p:nvSpPr>
        <p:spPr>
          <a:xfrm>
            <a:off x="868680" y="182880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pic>
        <p:nvPicPr>
          <p:cNvPr id="9" name="Image 1" descr="dropl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439" y="1959559"/>
            <a:ext cx="332842" cy="33284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91640" y="17373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Hidratação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691640" y="21031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Litros de água por dia, calculados a partir do peso, com dias de treino e sem treino.</a:t>
            </a:r>
            <a:endParaRPr lang="en-US" sz="1200" dirty="0"/>
          </a:p>
        </p:txBody>
      </p:sp>
      <p:sp>
        <p:nvSpPr>
          <p:cNvPr id="12" name="Cartão"/>
          <p:cNvSpPr/>
          <p:nvPr/>
        </p:nvSpPr>
        <p:spPr>
          <a:xfrm>
            <a:off x="640080" y="2743200"/>
            <a:ext cx="6583680" cy="960120"/>
          </a:xfrm>
          <a:prstGeom prst="roundRect">
            <a:avLst>
              <a:gd name="adj" fmla="val 2095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3" name="Ícone"/>
          <p:cNvSpPr/>
          <p:nvPr/>
        </p:nvSpPr>
        <p:spPr>
          <a:xfrm>
            <a:off x="868680" y="292608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pic>
        <p:nvPicPr>
          <p:cNvPr id="14" name="Image 2" descr="leaf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439" y="3056839"/>
            <a:ext cx="332842" cy="33284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691640" y="2834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Proteína do dia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691640" y="32004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Intervalo de gramas de proteína recomendado, repartido por refeições.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640080" y="3840480"/>
            <a:ext cx="6583680" cy="960120"/>
          </a:xfrm>
          <a:prstGeom prst="roundRect">
            <a:avLst>
              <a:gd name="adj" fmla="val 2095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8" name="Ícone"/>
          <p:cNvSpPr/>
          <p:nvPr/>
        </p:nvSpPr>
        <p:spPr>
          <a:xfrm>
            <a:off x="868680" y="402336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pic>
        <p:nvPicPr>
          <p:cNvPr id="19" name="Image 3" descr="b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39" y="4154119"/>
            <a:ext cx="332842" cy="33284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91640" y="39319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podes comer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1691640" y="42976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Guia de alimentos por categoria, com quantidades à medida da mão.</a:t>
            </a:r>
            <a:endParaRPr lang="en-US" sz="1200" dirty="0"/>
          </a:p>
        </p:txBody>
      </p:sp>
      <p:sp>
        <p:nvSpPr>
          <p:cNvPr id="22" name="Cartão"/>
          <p:cNvSpPr/>
          <p:nvPr/>
        </p:nvSpPr>
        <p:spPr>
          <a:xfrm>
            <a:off x="640080" y="4937760"/>
            <a:ext cx="6583680" cy="960120"/>
          </a:xfrm>
          <a:prstGeom prst="roundRect">
            <a:avLst>
              <a:gd name="adj" fmla="val 2095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3" name="Ícone"/>
          <p:cNvSpPr/>
          <p:nvPr/>
        </p:nvSpPr>
        <p:spPr>
          <a:xfrm>
            <a:off x="868680" y="512064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pic>
        <p:nvPicPr>
          <p:cNvPr id="24" name="Image 4" descr="calend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439" y="5251399"/>
            <a:ext cx="332842" cy="332842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691640" y="50292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Refeições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1691640" y="53949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Sugestões para cada altura do dia, ajustadas ao objetivo escolhido.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640080" y="59893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teste, quase não é usada a cada treino: é uma aba de apoio, a simplificar. Valores de referência gerais, que não substituem um nutricionista.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 · ABA 3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Medições: o corpo além da balança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1000" dirty="0"/>
          </a:p>
        </p:txBody>
      </p:sp>
      <p:pic>
        <p:nvPicPr>
          <p:cNvPr id="6" name="Image 0" descr="Captura de ecrã da app: medico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2492248" cy="5029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114800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Métricas registadas</a:t>
            </a:r>
            <a:endParaRPr lang="en-US" sz="1600" dirty="0"/>
          </a:p>
        </p:txBody>
      </p:sp>
      <p:sp>
        <p:nvSpPr>
          <p:cNvPr id="8" name="Etiqueta"/>
          <p:cNvSpPr/>
          <p:nvPr/>
        </p:nvSpPr>
        <p:spPr>
          <a:xfrm>
            <a:off x="4114800" y="201168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114800" y="20116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Peso</a:t>
            </a:r>
            <a:endParaRPr lang="en-US" sz="1100" dirty="0"/>
          </a:p>
        </p:txBody>
      </p:sp>
      <p:sp>
        <p:nvSpPr>
          <p:cNvPr id="10" name="Etiqueta"/>
          <p:cNvSpPr/>
          <p:nvPr/>
        </p:nvSpPr>
        <p:spPr>
          <a:xfrm>
            <a:off x="6629400" y="201168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629400" y="20116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IMC</a:t>
            </a:r>
            <a:endParaRPr lang="en-US" sz="1100" dirty="0"/>
          </a:p>
        </p:txBody>
      </p:sp>
      <p:sp>
        <p:nvSpPr>
          <p:cNvPr id="12" name="Etiqueta"/>
          <p:cNvSpPr/>
          <p:nvPr/>
        </p:nvSpPr>
        <p:spPr>
          <a:xfrm>
            <a:off x="9144000" y="201168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144000" y="20116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Gordura corporal</a:t>
            </a:r>
            <a:endParaRPr lang="en-US" sz="1100" dirty="0"/>
          </a:p>
        </p:txBody>
      </p:sp>
      <p:sp>
        <p:nvSpPr>
          <p:cNvPr id="14" name="Etiqueta"/>
          <p:cNvSpPr/>
          <p:nvPr/>
        </p:nvSpPr>
        <p:spPr>
          <a:xfrm>
            <a:off x="4114800" y="246888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114800" y="24688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Gordura subcutânea</a:t>
            </a:r>
            <a:endParaRPr lang="en-US" sz="1100" dirty="0"/>
          </a:p>
        </p:txBody>
      </p:sp>
      <p:sp>
        <p:nvSpPr>
          <p:cNvPr id="16" name="Etiqueta"/>
          <p:cNvSpPr/>
          <p:nvPr/>
        </p:nvSpPr>
        <p:spPr>
          <a:xfrm>
            <a:off x="6629400" y="246888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629400" y="24688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Gordura visceral</a:t>
            </a:r>
            <a:endParaRPr lang="en-US" sz="1100" dirty="0"/>
          </a:p>
        </p:txBody>
      </p:sp>
      <p:sp>
        <p:nvSpPr>
          <p:cNvPr id="18" name="Etiqueta"/>
          <p:cNvSpPr/>
          <p:nvPr/>
        </p:nvSpPr>
        <p:spPr>
          <a:xfrm>
            <a:off x="9144000" y="246888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144000" y="24688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Água corporal</a:t>
            </a:r>
            <a:endParaRPr lang="en-US" sz="1100" dirty="0"/>
          </a:p>
        </p:txBody>
      </p:sp>
      <p:sp>
        <p:nvSpPr>
          <p:cNvPr id="20" name="Etiqueta"/>
          <p:cNvSpPr/>
          <p:nvPr/>
        </p:nvSpPr>
        <p:spPr>
          <a:xfrm>
            <a:off x="4114800" y="292608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114800" y="29260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Massa muscular</a:t>
            </a:r>
            <a:endParaRPr lang="en-US" sz="1100" dirty="0"/>
          </a:p>
        </p:txBody>
      </p:sp>
      <p:sp>
        <p:nvSpPr>
          <p:cNvPr id="22" name="Etiqueta"/>
          <p:cNvSpPr/>
          <p:nvPr/>
        </p:nvSpPr>
        <p:spPr>
          <a:xfrm>
            <a:off x="6629400" y="292608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629400" y="29260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Massa óssea</a:t>
            </a:r>
            <a:endParaRPr lang="en-US" sz="1100" dirty="0"/>
          </a:p>
        </p:txBody>
      </p:sp>
      <p:sp>
        <p:nvSpPr>
          <p:cNvPr id="24" name="Etiqueta"/>
          <p:cNvSpPr/>
          <p:nvPr/>
        </p:nvSpPr>
        <p:spPr>
          <a:xfrm>
            <a:off x="9144000" y="292608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144000" y="29260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BMR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4114800" y="3657600"/>
            <a:ext cx="74066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Registo manual, com data, que pode ser corrigido ou apagado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Gráficos para ver a evolução de cada métrica ao longo do tempo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Pequenas explicações de cada métrica, em linguagem simples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comentário "A nossa opinião" sobre a evolução, simpático e sem julgar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teste: usam esta aba só para consultar ou acrescentar uma medida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 · ABA 4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Progresso: meta mensal e calendário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1000" dirty="0"/>
          </a:p>
        </p:txBody>
      </p:sp>
      <p:pic>
        <p:nvPicPr>
          <p:cNvPr id="6" name="Image 0" descr="Captura de ecrã da app: calendari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325880"/>
            <a:ext cx="2492248" cy="5029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1645920"/>
            <a:ext cx="65836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Todos os meses a utilizadora define a sua meta de dias de treino, com sugestões rápidas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anel mostra quantos dias já treinou face à meta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calendário marca os dias treinados, automaticamente a partir dos registos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Tocar num dia mostra os exercícios e as cargas desse dia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Quando a meta é batida, há uma pequena festa com confetti e som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Mais abaixo, um cartão opcional mostra a fase do ciclo menstrual</a:t>
            </a:r>
            <a:endParaRPr lang="en-US" sz="1400" dirty="0"/>
          </a:p>
        </p:txBody>
      </p:sp>
      <p:sp>
        <p:nvSpPr>
          <p:cNvPr id="8" name="Nota"/>
          <p:cNvSpPr/>
          <p:nvPr/>
        </p:nvSpPr>
        <p:spPr>
          <a:xfrm>
            <a:off x="640080" y="5257800"/>
            <a:ext cx="6583680" cy="914400"/>
          </a:xfrm>
          <a:prstGeom prst="roundRect">
            <a:avLst>
              <a:gd name="adj" fmla="val 22000"/>
            </a:avLst>
          </a:prstGeom>
          <a:solidFill>
            <a:srgbClr val="F5C6D8">
              <a:alpha val="60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pic>
        <p:nvPicPr>
          <p:cNvPr id="9" name="Image 1" descr="flam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48640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08760" y="54406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comparações com meses anteriores: só factos, para motivar sem culpabilizar.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 · ABA 4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Progresso: o equilíbrio do treino num relance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1000" dirty="0"/>
          </a:p>
        </p:txBody>
      </p:sp>
      <p:pic>
        <p:nvPicPr>
          <p:cNvPr id="6" name="Image 0" descr="Captura de ecrã da app: donu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2492248" cy="5029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114800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Gráfico donut por parte do corpo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114800" y="2011680"/>
            <a:ext cx="74066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Mostra a percentagem de exercícios do mês por parte do corpo, a partir dos registos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exercício conta uma vez por dia, mesmo que seja registado várias vezes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legenda indica a percentagem e o número de exercícios de cada grupo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Aparece depois do calendário e sem número no centro, para ficar limpo</a:t>
            </a:r>
            <a:endParaRPr lang="en-US" sz="1500" dirty="0"/>
          </a:p>
        </p:txBody>
      </p:sp>
      <p:sp>
        <p:nvSpPr>
          <p:cNvPr id="9" name="Melhores cargas"/>
          <p:cNvSpPr/>
          <p:nvPr/>
        </p:nvSpPr>
        <p:spPr>
          <a:xfrm>
            <a:off x="4114800" y="4572000"/>
            <a:ext cx="7406640" cy="1554480"/>
          </a:xfrm>
          <a:prstGeom prst="roundRect">
            <a:avLst>
              <a:gd name="adj" fmla="val 12941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0" name="Ícone"/>
          <p:cNvSpPr/>
          <p:nvPr/>
        </p:nvSpPr>
        <p:spPr>
          <a:xfrm>
            <a:off x="4343400" y="480060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11" name="Image 1" descr="st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4159" y="493135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66360" y="47548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Melhor carga de cada exercício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166360" y="516636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Lista agrupada por parte do corpo, com a melhor carga e as repetições, e a data em que foi alcançada.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 · ABA 4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Progresso: mensagens que motivam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</a:t>
            </a:r>
            <a:endParaRPr lang="en-US" sz="1000" dirty="0"/>
          </a:p>
        </p:txBody>
      </p:sp>
      <p:pic>
        <p:nvPicPr>
          <p:cNvPr id="6" name="Image 0" descr="Captura de ecrã da app: progress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325880"/>
            <a:ext cx="2492248" cy="5029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1645920"/>
            <a:ext cx="65836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resumo do mês em linguagem simpática, a tratar a utilizadora pelo nome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Mostra os treinos já feitos, quantos faltam para a meta e os minutos de cardio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Destaca as cargas que subiram e propõe uma "próxima missão"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tom muda consoante o mês corre: de "o primeiro passo está dado" a "a caminho da dúzia"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teste, é o destino de todas depois do treino: ver o treino do dia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Nunca compara com outras pessoas</a:t>
            </a:r>
            <a:endParaRPr lang="en-US" sz="1400" dirty="0"/>
          </a:p>
        </p:txBody>
      </p:sp>
      <p:sp>
        <p:nvSpPr>
          <p:cNvPr id="8" name="Nota"/>
          <p:cNvSpPr/>
          <p:nvPr/>
        </p:nvSpPr>
        <p:spPr>
          <a:xfrm>
            <a:off x="640080" y="5394960"/>
            <a:ext cx="6583680" cy="822960"/>
          </a:xfrm>
          <a:prstGeom prst="roundRect">
            <a:avLst>
              <a:gd name="adj" fmla="val 24444"/>
            </a:avLst>
          </a:prstGeom>
          <a:solidFill>
            <a:srgbClr val="D9CFF0">
              <a:alpha val="60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pic>
        <p:nvPicPr>
          <p:cNvPr id="9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57784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08760" y="562356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A63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Motivação com humor: o ginásio já é difícil o suficiente.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 · ABA 4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Progresso: o ciclo, uma orientação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1000" dirty="0"/>
          </a:p>
        </p:txBody>
      </p:sp>
      <p:pic>
        <p:nvPicPr>
          <p:cNvPr id="6" name="Image 0" descr="Captura de ecrã da app: cicl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2492248" cy="5029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114800" y="1645920"/>
            <a:ext cx="74066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Calendário do mês com cada dia pintado pela cor da fase do ciclo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dias da janela fértil estimada têm um ponto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Opcional e privado: só aparece se a utilizadora preencher o perfil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Apresentado como orientação geral, nunca como previsão garantida de desempenho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Botão "A menstruação começou hoje" para acertar as previsões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Aviso quando há atraso face à data prevista</a:t>
            </a:r>
            <a:endParaRPr lang="en-US" sz="1500" dirty="0"/>
          </a:p>
        </p:txBody>
      </p:sp>
      <p:sp>
        <p:nvSpPr>
          <p:cNvPr id="8" name="Aviso"/>
          <p:cNvSpPr/>
          <p:nvPr/>
        </p:nvSpPr>
        <p:spPr>
          <a:xfrm>
            <a:off x="4114800" y="5394960"/>
            <a:ext cx="7406640" cy="822960"/>
          </a:xfrm>
          <a:prstGeom prst="roundRect">
            <a:avLst>
              <a:gd name="adj" fmla="val 24444"/>
            </a:avLst>
          </a:prstGeom>
          <a:solidFill>
            <a:srgbClr val="FBDCC4">
              <a:alpha val="65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pic>
        <p:nvPicPr>
          <p:cNvPr id="9" name="Image 1" descr="inf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557784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983480" y="56235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serve como método contracetivo e não substitui o acompanhamento médico.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 · ABA 4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Progresso: o que esperar em cada dia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</a:t>
            </a:r>
            <a:endParaRPr lang="en-US" sz="1000" dirty="0"/>
          </a:p>
        </p:txBody>
      </p:sp>
      <p:pic>
        <p:nvPicPr>
          <p:cNvPr id="6" name="Image 0" descr="Captura de ecrã da app: ciclo-detalh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325880"/>
            <a:ext cx="2492248" cy="502920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640080" y="1645920"/>
            <a:ext cx="6583680" cy="960120"/>
          </a:xfrm>
          <a:prstGeom prst="roundRect">
            <a:avLst>
              <a:gd name="adj" fmla="val 2095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8" name="Ícone"/>
          <p:cNvSpPr/>
          <p:nvPr/>
        </p:nvSpPr>
        <p:spPr>
          <a:xfrm>
            <a:off x="868680" y="182880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pic>
        <p:nvPicPr>
          <p:cNvPr id="9" name="Image 1" descr="activit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439" y="1959559"/>
            <a:ext cx="332842" cy="33284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91640" y="17373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Dia e fase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691640" y="21031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Dia do ciclo, fase e energia típica numa barra de bolinhas.</a:t>
            </a:r>
            <a:endParaRPr lang="en-US" sz="1200" dirty="0"/>
          </a:p>
        </p:txBody>
      </p:sp>
      <p:sp>
        <p:nvSpPr>
          <p:cNvPr id="12" name="Cartão"/>
          <p:cNvSpPr/>
          <p:nvPr/>
        </p:nvSpPr>
        <p:spPr>
          <a:xfrm>
            <a:off x="640080" y="2743200"/>
            <a:ext cx="6583680" cy="960120"/>
          </a:xfrm>
          <a:prstGeom prst="roundRect">
            <a:avLst>
              <a:gd name="adj" fmla="val 2095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3" name="Ícone"/>
          <p:cNvSpPr/>
          <p:nvPr/>
        </p:nvSpPr>
        <p:spPr>
          <a:xfrm>
            <a:off x="868680" y="292608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14" name="Image 2" descr="dropl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439" y="3056839"/>
            <a:ext cx="332842" cy="33284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691640" y="2834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podes sentir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691640" y="32004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Sintomas e sensações habituais nessa fase.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640080" y="3840480"/>
            <a:ext cx="6583680" cy="960120"/>
          </a:xfrm>
          <a:prstGeom prst="roundRect">
            <a:avLst>
              <a:gd name="adj" fmla="val 2095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8" name="Ícone"/>
          <p:cNvSpPr/>
          <p:nvPr/>
        </p:nvSpPr>
        <p:spPr>
          <a:xfrm>
            <a:off x="868680" y="402336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pic>
        <p:nvPicPr>
          <p:cNvPr id="19" name="Image 3" descr="dumbbel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39" y="4154119"/>
            <a:ext cx="332842" cy="33284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91640" y="39319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Treino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1691640" y="42976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 tipo de treino costuma resultar melhor.</a:t>
            </a:r>
            <a:endParaRPr lang="en-US" sz="1200" dirty="0"/>
          </a:p>
        </p:txBody>
      </p:sp>
      <p:sp>
        <p:nvSpPr>
          <p:cNvPr id="22" name="Cartão"/>
          <p:cNvSpPr/>
          <p:nvPr/>
        </p:nvSpPr>
        <p:spPr>
          <a:xfrm>
            <a:off x="640080" y="4937760"/>
            <a:ext cx="6583680" cy="960120"/>
          </a:xfrm>
          <a:prstGeom prst="roundRect">
            <a:avLst>
              <a:gd name="adj" fmla="val 2095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3" name="Ícone"/>
          <p:cNvSpPr/>
          <p:nvPr/>
        </p:nvSpPr>
        <p:spPr>
          <a:xfrm>
            <a:off x="868680" y="512064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pic>
        <p:nvPicPr>
          <p:cNvPr id="24" name="Image 4" descr="leaf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439" y="5251399"/>
            <a:ext cx="332842" cy="332842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691640" y="50292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Alimentação e dica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1691640" y="53949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ajuda e uma dica prática para o dia.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640080" y="585216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Mostra ainda a data prevista da próxima menstruação. Com contraceção hormonal ou ciclo irregular, avisa que as datas são só uma referência.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 · ABA 4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Progresso: as cinco fases do ciclo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</a:t>
            </a:r>
            <a:endParaRPr lang="en-US" sz="1000" dirty="0"/>
          </a:p>
        </p:txBody>
      </p:sp>
      <p:sp>
        <p:nvSpPr>
          <p:cNvPr id="6" name="Fase"/>
          <p:cNvSpPr/>
          <p:nvPr/>
        </p:nvSpPr>
        <p:spPr>
          <a:xfrm>
            <a:off x="640080" y="1645920"/>
            <a:ext cx="2057400" cy="4023360"/>
          </a:xfrm>
          <a:prstGeom prst="roundRect">
            <a:avLst>
              <a:gd name="adj" fmla="val 9778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Cor da fase"/>
          <p:cNvSpPr/>
          <p:nvPr/>
        </p:nvSpPr>
        <p:spPr>
          <a:xfrm>
            <a:off x="1280160" y="1874520"/>
            <a:ext cx="777240" cy="777240"/>
          </a:xfrm>
          <a:prstGeom prst="ellipse">
            <a:avLst/>
          </a:prstGeom>
          <a:solidFill>
            <a:srgbClr val="F2A9C4"/>
          </a:solidFill>
          <a:ln w="12700">
            <a:solidFill>
              <a:srgbClr val="F2A9C4">
                <a:alpha val="0"/>
              </a:srgbClr>
            </a:solidFill>
            <a:prstDash val="solid"/>
          </a:ln>
        </p:spPr>
      </p:sp>
      <p:pic>
        <p:nvPicPr>
          <p:cNvPr id="8" name="Image 0" descr="dropl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472" y="2084832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77240" y="28346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Menstruação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337560"/>
            <a:ext cx="1783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Energia baixa, cólicas em algumas pessoas. Treino leve: caminhar, yoga, alongar. Ferro e muita água.</a:t>
            </a:r>
            <a:endParaRPr lang="en-US" sz="1250" dirty="0"/>
          </a:p>
        </p:txBody>
      </p:sp>
      <p:sp>
        <p:nvSpPr>
          <p:cNvPr id="11" name="Fase"/>
          <p:cNvSpPr/>
          <p:nvPr/>
        </p:nvSpPr>
        <p:spPr>
          <a:xfrm>
            <a:off x="2834640" y="1645920"/>
            <a:ext cx="2057400" cy="4023360"/>
          </a:xfrm>
          <a:prstGeom prst="roundRect">
            <a:avLst>
              <a:gd name="adj" fmla="val 9778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2" name="Cor da fase"/>
          <p:cNvSpPr/>
          <p:nvPr/>
        </p:nvSpPr>
        <p:spPr>
          <a:xfrm>
            <a:off x="3474720" y="1874520"/>
            <a:ext cx="777240" cy="777240"/>
          </a:xfrm>
          <a:prstGeom prst="ellipse">
            <a:avLst/>
          </a:prstGeom>
          <a:solidFill>
            <a:srgbClr val="BFE3D0"/>
          </a:solidFill>
          <a:ln w="12700">
            <a:solidFill>
              <a:srgbClr val="BFE3D0">
                <a:alpha val="0"/>
              </a:srgbClr>
            </a:solidFill>
            <a:prstDash val="solid"/>
          </a:ln>
        </p:spPr>
      </p:sp>
      <p:pic>
        <p:nvPicPr>
          <p:cNvPr id="13" name="Image 1" descr="dropl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5032" y="2084832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971800" y="28346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folicular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2971800" y="3337560"/>
            <a:ext cx="1783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Energia e motivação a subir. Boa altura para treinos intensos, cargas pesadas e recordes.</a:t>
            </a:r>
            <a:endParaRPr lang="en-US" sz="1250" dirty="0"/>
          </a:p>
        </p:txBody>
      </p:sp>
      <p:sp>
        <p:nvSpPr>
          <p:cNvPr id="16" name="Fase"/>
          <p:cNvSpPr/>
          <p:nvPr/>
        </p:nvSpPr>
        <p:spPr>
          <a:xfrm>
            <a:off x="5029200" y="1645920"/>
            <a:ext cx="2057400" cy="4023360"/>
          </a:xfrm>
          <a:prstGeom prst="roundRect">
            <a:avLst>
              <a:gd name="adj" fmla="val 9778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7" name="Cor da fase"/>
          <p:cNvSpPr/>
          <p:nvPr/>
        </p:nvSpPr>
        <p:spPr>
          <a:xfrm>
            <a:off x="5669280" y="1874520"/>
            <a:ext cx="777240" cy="777240"/>
          </a:xfrm>
          <a:prstGeom prst="ellipse">
            <a:avLst/>
          </a:prstGeom>
          <a:solidFill>
            <a:srgbClr val="FBD58A"/>
          </a:solidFill>
          <a:ln w="12700">
            <a:solidFill>
              <a:srgbClr val="FBD58A">
                <a:alpha val="0"/>
              </a:srgbClr>
            </a:solidFill>
            <a:prstDash val="solid"/>
          </a:ln>
        </p:spPr>
      </p:sp>
      <p:pic>
        <p:nvPicPr>
          <p:cNvPr id="18" name="Image 2" descr="dropl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9592" y="2084832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166360" y="28346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Ovulação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5166360" y="3337560"/>
            <a:ext cx="1783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Pico de energia. Treino intenso, com aquecimento e cuidado com a técnica nos joelhos.</a:t>
            </a:r>
            <a:endParaRPr lang="en-US" sz="1250" dirty="0"/>
          </a:p>
        </p:txBody>
      </p:sp>
      <p:sp>
        <p:nvSpPr>
          <p:cNvPr id="21" name="Fase"/>
          <p:cNvSpPr/>
          <p:nvPr/>
        </p:nvSpPr>
        <p:spPr>
          <a:xfrm>
            <a:off x="7223760" y="1645920"/>
            <a:ext cx="2057400" cy="4023360"/>
          </a:xfrm>
          <a:prstGeom prst="roundRect">
            <a:avLst>
              <a:gd name="adj" fmla="val 9778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2" name="Cor da fase"/>
          <p:cNvSpPr/>
          <p:nvPr/>
        </p:nvSpPr>
        <p:spPr>
          <a:xfrm>
            <a:off x="7863840" y="1874520"/>
            <a:ext cx="777240" cy="777240"/>
          </a:xfrm>
          <a:prstGeom prst="ellipse">
            <a:avLst/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23" name="Image 3" descr="dropl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4152" y="2084832"/>
            <a:ext cx="365760" cy="36576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360920" y="28346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Fase lútea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7360920" y="3337560"/>
            <a:ext cx="1783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Apetite um pouco maior e energia estável. Força moderada e cardio constante.</a:t>
            </a:r>
            <a:endParaRPr lang="en-US" sz="1250" dirty="0"/>
          </a:p>
        </p:txBody>
      </p:sp>
      <p:sp>
        <p:nvSpPr>
          <p:cNvPr id="26" name="Fase"/>
          <p:cNvSpPr/>
          <p:nvPr/>
        </p:nvSpPr>
        <p:spPr>
          <a:xfrm>
            <a:off x="9418320" y="1645920"/>
            <a:ext cx="2057400" cy="4023360"/>
          </a:xfrm>
          <a:prstGeom prst="roundRect">
            <a:avLst>
              <a:gd name="adj" fmla="val 9778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7" name="Cor da fase"/>
          <p:cNvSpPr/>
          <p:nvPr/>
        </p:nvSpPr>
        <p:spPr>
          <a:xfrm>
            <a:off x="10058400" y="1874520"/>
            <a:ext cx="777240" cy="777240"/>
          </a:xfrm>
          <a:prstGeom prst="ellipse">
            <a:avLst/>
          </a:prstGeom>
          <a:solidFill>
            <a:srgbClr val="F7C7A8"/>
          </a:solidFill>
          <a:ln w="12700">
            <a:solidFill>
              <a:srgbClr val="F7C7A8">
                <a:alpha val="0"/>
              </a:srgbClr>
            </a:solidFill>
            <a:prstDash val="solid"/>
          </a:ln>
        </p:spPr>
      </p:sp>
      <p:pic>
        <p:nvPicPr>
          <p:cNvPr id="28" name="Image 4" descr="dropl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68712" y="2084832"/>
            <a:ext cx="365760" cy="36576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555480" y="28346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Pré-menstrual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9555480" y="3337560"/>
            <a:ext cx="1783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Inchaço e humor sensível. Treinos moderados, menos sal, mais água e magnésio.</a:t>
            </a:r>
            <a:endParaRPr lang="en-US" sz="1250" dirty="0"/>
          </a:p>
        </p:txBody>
      </p:sp>
      <p:sp>
        <p:nvSpPr>
          <p:cNvPr id="31" name="Text 24"/>
          <p:cNvSpPr txBox="1"/>
          <p:nvPr/>
        </p:nvSpPr>
        <p:spPr>
          <a:xfrm>
            <a:off x="640080" y="60350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Informação geral, que pode variar de pessoa para pessoa e de mês para mês.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 · ABA 5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Perfil: privado e opcional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</a:t>
            </a:r>
            <a:endParaRPr lang="en-US" sz="1000" dirty="0"/>
          </a:p>
        </p:txBody>
      </p:sp>
      <p:pic>
        <p:nvPicPr>
          <p:cNvPr id="6" name="Image 0" descr="Captura de ecrã da app: perf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2492248" cy="5029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114800" y="1645920"/>
            <a:ext cx="74066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Nome próprio e apelido: o nome próprio passa a aparecer no cabeçalho da app, no "aka"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Género (Feminino ou Outro) e data de nascimento, com a idade calculada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objetivo, à escolha de cada pessoa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Ciclo menstrual opcional: última menstruação, duração do ciclo ou gravidez, que alimenta o cartão do Progresso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Todos os dados são guardados na conta da utilizadora e só ela os vê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Perfil como última aba: os dados pessoais são secundários ao treino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 · ABA 5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Perfil: o objetivo à escolha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</a:t>
            </a:r>
            <a:endParaRPr lang="en-US" sz="1000" dirty="0"/>
          </a:p>
        </p:txBody>
      </p:sp>
      <p:pic>
        <p:nvPicPr>
          <p:cNvPr id="6" name="Image 0" descr="Captura de ecrã da app: perfil-ob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325880"/>
            <a:ext cx="2492248" cy="5029200"/>
          </a:xfrm>
          <a:prstGeom prst="rect">
            <a:avLst/>
          </a:prstGeom>
        </p:spPr>
      </p:pic>
      <p:sp>
        <p:nvSpPr>
          <p:cNvPr id="7" name="Objetivo"/>
          <p:cNvSpPr/>
          <p:nvPr/>
        </p:nvSpPr>
        <p:spPr>
          <a:xfrm>
            <a:off x="640080" y="1645920"/>
            <a:ext cx="6583680" cy="896112"/>
          </a:xfrm>
          <a:prstGeom prst="roundRect">
            <a:avLst>
              <a:gd name="adj" fmla="val 22449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8" name="Ícone"/>
          <p:cNvSpPr/>
          <p:nvPr/>
        </p:nvSpPr>
        <p:spPr>
          <a:xfrm>
            <a:off x="868680" y="1801368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pic>
        <p:nvPicPr>
          <p:cNvPr id="9" name="Image 1" descr="dumbbe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404" y="1926092"/>
            <a:ext cx="317480" cy="3174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91640" y="170992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Hipertrofia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1691640" y="20756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Ganhar massa muscular, em especial glúteos e pernas.</a:t>
            </a:r>
            <a:endParaRPr lang="en-US" sz="1200" dirty="0"/>
          </a:p>
        </p:txBody>
      </p:sp>
      <p:sp>
        <p:nvSpPr>
          <p:cNvPr id="12" name="Objetivo"/>
          <p:cNvSpPr/>
          <p:nvPr/>
        </p:nvSpPr>
        <p:spPr>
          <a:xfrm>
            <a:off x="640080" y="2670048"/>
            <a:ext cx="6583680" cy="896112"/>
          </a:xfrm>
          <a:prstGeom prst="roundRect">
            <a:avLst>
              <a:gd name="adj" fmla="val 22449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3" name="Ícone"/>
          <p:cNvSpPr/>
          <p:nvPr/>
        </p:nvSpPr>
        <p:spPr>
          <a:xfrm>
            <a:off x="868680" y="2825496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14" name="Image 2" descr="activit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3404" y="2950220"/>
            <a:ext cx="317480" cy="317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691640" y="2734056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Perda de gordura + hipertrofia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1691640" y="3099816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Perder gordura mantendo ou ganhando músculo.</a:t>
            </a:r>
            <a:endParaRPr lang="en-US" sz="1200" dirty="0"/>
          </a:p>
        </p:txBody>
      </p:sp>
      <p:sp>
        <p:nvSpPr>
          <p:cNvPr id="17" name="Objetivo"/>
          <p:cNvSpPr/>
          <p:nvPr/>
        </p:nvSpPr>
        <p:spPr>
          <a:xfrm>
            <a:off x="640080" y="3694176"/>
            <a:ext cx="6583680" cy="896112"/>
          </a:xfrm>
          <a:prstGeom prst="roundRect">
            <a:avLst>
              <a:gd name="adj" fmla="val 22449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8" name="Ícone"/>
          <p:cNvSpPr/>
          <p:nvPr/>
        </p:nvSpPr>
        <p:spPr>
          <a:xfrm>
            <a:off x="868680" y="3849624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pic>
        <p:nvPicPr>
          <p:cNvPr id="19" name="Image 3" descr="leaf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3404" y="3974348"/>
            <a:ext cx="317480" cy="31748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91640" y="3758184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Emagrecer com saúde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1691640" y="4123944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Perder peso de forma gradual e sustentável.</a:t>
            </a:r>
            <a:endParaRPr lang="en-US" sz="1200" dirty="0"/>
          </a:p>
        </p:txBody>
      </p:sp>
      <p:sp>
        <p:nvSpPr>
          <p:cNvPr id="22" name="Objetivo"/>
          <p:cNvSpPr/>
          <p:nvPr/>
        </p:nvSpPr>
        <p:spPr>
          <a:xfrm>
            <a:off x="640080" y="4718304"/>
            <a:ext cx="6583680" cy="896112"/>
          </a:xfrm>
          <a:prstGeom prst="roundRect">
            <a:avLst>
              <a:gd name="adj" fmla="val 22449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3" name="Ícone"/>
          <p:cNvSpPr/>
          <p:nvPr/>
        </p:nvSpPr>
        <p:spPr>
          <a:xfrm>
            <a:off x="868680" y="4873752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pic>
        <p:nvPicPr>
          <p:cNvPr id="24" name="Image 4" descr="sparkl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3404" y="4998476"/>
            <a:ext cx="317480" cy="31748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691640" y="478231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Saúde e bem-estar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1691640" y="514807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Sentir-se bem, com mais energia e força no dia a dia.</a:t>
            </a:r>
            <a:endParaRPr lang="en-US" sz="1200" dirty="0"/>
          </a:p>
        </p:txBody>
      </p:sp>
      <p:sp>
        <p:nvSpPr>
          <p:cNvPr id="27" name="Nota"/>
          <p:cNvSpPr/>
          <p:nvPr/>
        </p:nvSpPr>
        <p:spPr>
          <a:xfrm>
            <a:off x="640080" y="5806440"/>
            <a:ext cx="6583680" cy="548640"/>
          </a:xfrm>
          <a:prstGeom prst="roundRect">
            <a:avLst>
              <a:gd name="adj" fmla="val 36667"/>
            </a:avLst>
          </a:prstGeom>
          <a:solidFill>
            <a:srgbClr val="D9CFF0">
              <a:alpha val="60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8" name="Text 21"/>
          <p:cNvSpPr txBox="1"/>
          <p:nvPr/>
        </p:nvSpPr>
        <p:spPr>
          <a:xfrm>
            <a:off x="868680" y="5870448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objetivo ajusta a alimentação e as mensagens. O treino base é igual para todas.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 · ABA 5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Perfil: o formulário do ciclo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</a:t>
            </a:r>
            <a:endParaRPr lang="en-US" sz="1000" dirty="0"/>
          </a:p>
        </p:txBody>
      </p:sp>
      <p:pic>
        <p:nvPicPr>
          <p:cNvPr id="6" name="Image 0" descr="Captura de ecrã da app: perfil-cicl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325880"/>
            <a:ext cx="2492248" cy="5029200"/>
          </a:xfrm>
          <a:prstGeom prst="rect">
            <a:avLst/>
          </a:prstGeom>
        </p:spPr>
      </p:pic>
      <p:sp>
        <p:nvSpPr>
          <p:cNvPr id="7" name="Situação"/>
          <p:cNvSpPr/>
          <p:nvPr/>
        </p:nvSpPr>
        <p:spPr>
          <a:xfrm>
            <a:off x="640080" y="1645920"/>
            <a:ext cx="6583680" cy="1371600"/>
          </a:xfrm>
          <a:prstGeom prst="roundRect">
            <a:avLst>
              <a:gd name="adj" fmla="val 1466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8" name="Ícone"/>
          <p:cNvSpPr/>
          <p:nvPr/>
        </p:nvSpPr>
        <p:spPr>
          <a:xfrm>
            <a:off x="868680" y="201168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pic>
        <p:nvPicPr>
          <p:cNvPr id="9" name="Image 1" descr="dropl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498" y="2152498"/>
            <a:ext cx="358445" cy="35844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737360" y="175564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Tenho ciclo menstrual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737360" y="214884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Última menstruação, duração do ciclo (21 a 45 dias), dias de menstruação, contraceção hormonal e ciclo irregular.</a:t>
            </a:r>
            <a:endParaRPr lang="en-US" sz="1200" dirty="0"/>
          </a:p>
        </p:txBody>
      </p:sp>
      <p:sp>
        <p:nvSpPr>
          <p:cNvPr id="12" name="Situação"/>
          <p:cNvSpPr/>
          <p:nvPr/>
        </p:nvSpPr>
        <p:spPr>
          <a:xfrm>
            <a:off x="640080" y="3154680"/>
            <a:ext cx="6583680" cy="1371600"/>
          </a:xfrm>
          <a:prstGeom prst="roundRect">
            <a:avLst>
              <a:gd name="adj" fmla="val 1466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3" name="Ícone"/>
          <p:cNvSpPr/>
          <p:nvPr/>
        </p:nvSpPr>
        <p:spPr>
          <a:xfrm>
            <a:off x="868680" y="352044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14" name="Image 2" descr="us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9498" y="3661258"/>
            <a:ext cx="358445" cy="35844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737360" y="326440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Estou grávida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737360" y="365760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Indica a última menstruação e a app calcula as semanas e a data prevista do parto, mostrando o trimestre.</a:t>
            </a:r>
            <a:endParaRPr lang="en-US" sz="1200" dirty="0"/>
          </a:p>
        </p:txBody>
      </p:sp>
      <p:sp>
        <p:nvSpPr>
          <p:cNvPr id="17" name="Situação"/>
          <p:cNvSpPr/>
          <p:nvPr/>
        </p:nvSpPr>
        <p:spPr>
          <a:xfrm>
            <a:off x="640080" y="4663440"/>
            <a:ext cx="6583680" cy="1371600"/>
          </a:xfrm>
          <a:prstGeom prst="roundRect">
            <a:avLst>
              <a:gd name="adj" fmla="val 1466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8" name="Ícone"/>
          <p:cNvSpPr/>
          <p:nvPr/>
        </p:nvSpPr>
        <p:spPr>
          <a:xfrm>
            <a:off x="868680" y="502920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pic>
        <p:nvPicPr>
          <p:cNvPr id="19" name="Image 3" descr="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9498" y="5170018"/>
            <a:ext cx="358445" cy="358445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737360" y="477316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tenho menstruação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1737360" y="516636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app não mostra fases do ciclo, e sugere falar com o médico se for inesperado.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40080" y="621792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Durante a gravidez, a app não mostra fases do ciclo como se decorresse normalmente.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CRIAR CONTA E OBJETIVO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Criar conta própria, em três passos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</a:t>
            </a:r>
            <a:endParaRPr lang="en-US" sz="1000" dirty="0"/>
          </a:p>
        </p:txBody>
      </p:sp>
      <p:pic>
        <p:nvPicPr>
          <p:cNvPr id="6" name="Image 0" descr="Captura de ecrã da app: reg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371600"/>
            <a:ext cx="1676603" cy="3383280"/>
          </a:xfrm>
          <a:prstGeom prst="rect">
            <a:avLst/>
          </a:prstGeom>
        </p:spPr>
      </p:pic>
      <p:pic>
        <p:nvPicPr>
          <p:cNvPr id="7" name="Image 1" descr="Captura de ecrã da app: reg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1371600"/>
            <a:ext cx="1676603" cy="3383280"/>
          </a:xfrm>
          <a:prstGeom prst="rect">
            <a:avLst/>
          </a:prstGeom>
        </p:spPr>
      </p:pic>
      <p:pic>
        <p:nvPicPr>
          <p:cNvPr id="8" name="Image 2" descr="Captura de ecrã da app: reg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0" y="1371600"/>
            <a:ext cx="1676603" cy="3383280"/>
          </a:xfrm>
          <a:prstGeom prst="rect">
            <a:avLst/>
          </a:prstGeom>
        </p:spPr>
      </p:pic>
      <p:sp>
        <p:nvSpPr>
          <p:cNvPr id="9" name="Passo"/>
          <p:cNvSpPr/>
          <p:nvPr/>
        </p:nvSpPr>
        <p:spPr>
          <a:xfrm>
            <a:off x="640080" y="1600200"/>
            <a:ext cx="6035040" cy="1234440"/>
          </a:xfrm>
          <a:prstGeom prst="roundRect">
            <a:avLst>
              <a:gd name="adj" fmla="val 16296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0" name="Ícone"/>
          <p:cNvSpPr/>
          <p:nvPr/>
        </p:nvSpPr>
        <p:spPr>
          <a:xfrm>
            <a:off x="868680" y="192024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pic>
        <p:nvPicPr>
          <p:cNvPr id="11" name="Image 3" descr="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39" y="2050999"/>
            <a:ext cx="332842" cy="332842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691640" y="17099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Passo 1: a conta</a:t>
            </a:r>
            <a:endParaRPr lang="en-US" sz="1400" dirty="0"/>
          </a:p>
        </p:txBody>
      </p:sp>
      <p:sp>
        <p:nvSpPr>
          <p:cNvPr id="13" name="Text 7"/>
          <p:cNvSpPr txBox="1"/>
          <p:nvPr/>
        </p:nvSpPr>
        <p:spPr>
          <a:xfrm>
            <a:off x="1691640" y="2103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Código de convite, nome de utilizador e palavra-passe (mínimo 6 caracteres).</a:t>
            </a:r>
            <a:endParaRPr lang="en-US" sz="1200" dirty="0"/>
          </a:p>
        </p:txBody>
      </p:sp>
      <p:sp>
        <p:nvSpPr>
          <p:cNvPr id="14" name="Passo"/>
          <p:cNvSpPr/>
          <p:nvPr/>
        </p:nvSpPr>
        <p:spPr>
          <a:xfrm>
            <a:off x="640080" y="2971800"/>
            <a:ext cx="6035040" cy="1234440"/>
          </a:xfrm>
          <a:prstGeom prst="roundRect">
            <a:avLst>
              <a:gd name="adj" fmla="val 16296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5" name="Ícone"/>
          <p:cNvSpPr/>
          <p:nvPr/>
        </p:nvSpPr>
        <p:spPr>
          <a:xfrm>
            <a:off x="868680" y="329184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16" name="Image 4" descr="us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439" y="3422599"/>
            <a:ext cx="332842" cy="332842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691640" y="30815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Passo 2: sobre ela</a:t>
            </a:r>
            <a:endParaRPr lang="en-US" sz="1400" dirty="0"/>
          </a:p>
        </p:txBody>
      </p:sp>
      <p:sp>
        <p:nvSpPr>
          <p:cNvPr id="18" name="Text 11"/>
          <p:cNvSpPr txBox="1"/>
          <p:nvPr/>
        </p:nvSpPr>
        <p:spPr>
          <a:xfrm>
            <a:off x="1691640" y="34747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Nome próprio, apelido, género e data de nascimento (opcional).</a:t>
            </a:r>
            <a:endParaRPr lang="en-US" sz="1200" dirty="0"/>
          </a:p>
        </p:txBody>
      </p:sp>
      <p:sp>
        <p:nvSpPr>
          <p:cNvPr id="19" name="Passo"/>
          <p:cNvSpPr/>
          <p:nvPr/>
        </p:nvSpPr>
        <p:spPr>
          <a:xfrm>
            <a:off x="640080" y="4343400"/>
            <a:ext cx="6035040" cy="1234440"/>
          </a:xfrm>
          <a:prstGeom prst="roundRect">
            <a:avLst>
              <a:gd name="adj" fmla="val 16296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0" name="Ícone"/>
          <p:cNvSpPr/>
          <p:nvPr/>
        </p:nvSpPr>
        <p:spPr>
          <a:xfrm>
            <a:off x="868680" y="466344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pic>
        <p:nvPicPr>
          <p:cNvPr id="21" name="Image 5" descr="targe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9439" y="4794199"/>
            <a:ext cx="332842" cy="332842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691640" y="44531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Passo 3: objetivo e medidas</a:t>
            </a:r>
            <a:endParaRPr lang="en-US" sz="1400" dirty="0"/>
          </a:p>
        </p:txBody>
      </p:sp>
      <p:sp>
        <p:nvSpPr>
          <p:cNvPr id="23" name="Text 15"/>
          <p:cNvSpPr txBox="1"/>
          <p:nvPr/>
        </p:nvSpPr>
        <p:spPr>
          <a:xfrm>
            <a:off x="1691640" y="48463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Escolhe um de 4 objetivos e, se quiser, regista peso, gordura e músculo.</a:t>
            </a:r>
            <a:endParaRPr lang="en-US" sz="1200" dirty="0"/>
          </a:p>
        </p:txBody>
      </p:sp>
      <p:sp>
        <p:nvSpPr>
          <p:cNvPr id="24" name="Nota"/>
          <p:cNvSpPr/>
          <p:nvPr/>
        </p:nvSpPr>
        <p:spPr>
          <a:xfrm>
            <a:off x="640080" y="5760720"/>
            <a:ext cx="6035040" cy="594360"/>
          </a:xfrm>
          <a:prstGeom prst="roundRect">
            <a:avLst>
              <a:gd name="adj" fmla="val 33846"/>
            </a:avLst>
          </a:prstGeom>
          <a:solidFill>
            <a:srgbClr val="C6E8DC">
              <a:alpha val="65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5" name="Text 17"/>
          <p:cNvSpPr txBox="1"/>
          <p:nvPr/>
        </p:nvSpPr>
        <p:spPr>
          <a:xfrm>
            <a:off x="868680" y="5824728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Deixa de ser preciso eu criar cada conta. O treino base é o mesmo para todas.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IDENTIDADE VISUAL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Feminina, divertida e aesthetic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Fundo "aurora" com manchas suaves, cartões de vidro, cantos arredondados, elementos visuais e sonoros. O contrário das apps de fitness técnicas e intimidantes.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11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Paleta (com os tons de texto já mais escuros)</a:t>
            </a:r>
            <a:endParaRPr lang="en-US" sz="1600" dirty="0"/>
          </a:p>
        </p:txBody>
      </p:sp>
      <p:sp>
        <p:nvSpPr>
          <p:cNvPr id="8" name="Amostra"/>
          <p:cNvSpPr/>
          <p:nvPr/>
        </p:nvSpPr>
        <p:spPr>
          <a:xfrm>
            <a:off x="822960" y="2423160"/>
            <a:ext cx="1005840" cy="1005840"/>
          </a:xfrm>
          <a:prstGeom prst="ellipse">
            <a:avLst/>
          </a:prstGeom>
          <a:solidFill>
            <a:srgbClr val="F5C6D8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B5798E">
                <a:alpha val="2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0080" y="3474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Rosa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7490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#F5C6D8</a:t>
            </a:r>
            <a:endParaRPr lang="en-US" sz="1000" dirty="0"/>
          </a:p>
        </p:txBody>
      </p:sp>
      <p:sp>
        <p:nvSpPr>
          <p:cNvPr id="11" name="Amostra"/>
          <p:cNvSpPr/>
          <p:nvPr/>
        </p:nvSpPr>
        <p:spPr>
          <a:xfrm>
            <a:off x="2377440" y="2423160"/>
            <a:ext cx="1005840" cy="1005840"/>
          </a:xfrm>
          <a:prstGeom prst="ellipse">
            <a:avLst/>
          </a:prstGeom>
          <a:solidFill>
            <a:srgbClr val="9C5A74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B5798E">
                <a:alpha val="2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2194560" y="3474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Rosa escuro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37490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#9C5A74</a:t>
            </a:r>
            <a:endParaRPr lang="en-US" sz="1000" dirty="0"/>
          </a:p>
        </p:txBody>
      </p:sp>
      <p:sp>
        <p:nvSpPr>
          <p:cNvPr id="14" name="Amostra"/>
          <p:cNvSpPr/>
          <p:nvPr/>
        </p:nvSpPr>
        <p:spPr>
          <a:xfrm>
            <a:off x="3931920" y="2423160"/>
            <a:ext cx="1005840" cy="1005840"/>
          </a:xfrm>
          <a:prstGeom prst="ellipse">
            <a:avLst/>
          </a:prstGeom>
          <a:solidFill>
            <a:srgbClr val="8A4B65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B5798E">
                <a:alpha val="2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3749040" y="3474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Rosa profundo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749040" y="37490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#8A4B65</a:t>
            </a:r>
            <a:endParaRPr lang="en-US" sz="1000" dirty="0"/>
          </a:p>
        </p:txBody>
      </p:sp>
      <p:sp>
        <p:nvSpPr>
          <p:cNvPr id="17" name="Amostra"/>
          <p:cNvSpPr/>
          <p:nvPr/>
        </p:nvSpPr>
        <p:spPr>
          <a:xfrm>
            <a:off x="5486400" y="2423160"/>
            <a:ext cx="1005840" cy="1005840"/>
          </a:xfrm>
          <a:prstGeom prst="ellipse">
            <a:avLst/>
          </a:prstGeom>
          <a:solidFill>
            <a:srgbClr val="D9CFF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B5798E">
                <a:alpha val="2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5303520" y="3474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Lilás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37490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#D9CFF0</a:t>
            </a:r>
            <a:endParaRPr lang="en-US" sz="1000" dirty="0"/>
          </a:p>
        </p:txBody>
      </p:sp>
      <p:sp>
        <p:nvSpPr>
          <p:cNvPr id="20" name="Amostra"/>
          <p:cNvSpPr/>
          <p:nvPr/>
        </p:nvSpPr>
        <p:spPr>
          <a:xfrm>
            <a:off x="7040880" y="2423160"/>
            <a:ext cx="1005840" cy="1005840"/>
          </a:xfrm>
          <a:prstGeom prst="ellipse">
            <a:avLst/>
          </a:prstGeom>
          <a:solidFill>
            <a:srgbClr val="C6E8DC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B5798E">
                <a:alpha val="2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858000" y="3474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Menta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0" y="37490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#C6E8DC</a:t>
            </a:r>
            <a:endParaRPr lang="en-US" sz="1000" dirty="0"/>
          </a:p>
        </p:txBody>
      </p:sp>
      <p:sp>
        <p:nvSpPr>
          <p:cNvPr id="23" name="Amostra"/>
          <p:cNvSpPr/>
          <p:nvPr/>
        </p:nvSpPr>
        <p:spPr>
          <a:xfrm>
            <a:off x="8595360" y="2423160"/>
            <a:ext cx="1005840" cy="1005840"/>
          </a:xfrm>
          <a:prstGeom prst="ellipse">
            <a:avLst/>
          </a:prstGeom>
          <a:solidFill>
            <a:srgbClr val="FBDCC4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B5798E">
                <a:alpha val="20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412480" y="3474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Pêssego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37490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#FBDCC4</a:t>
            </a:r>
            <a:endParaRPr lang="en-US" sz="1000" dirty="0"/>
          </a:p>
        </p:txBody>
      </p:sp>
      <p:sp>
        <p:nvSpPr>
          <p:cNvPr id="26" name="Amostra"/>
          <p:cNvSpPr/>
          <p:nvPr/>
        </p:nvSpPr>
        <p:spPr>
          <a:xfrm>
            <a:off x="10149840" y="2423160"/>
            <a:ext cx="1005840" cy="1005840"/>
          </a:xfrm>
          <a:prstGeom prst="ellipse">
            <a:avLst/>
          </a:prstGeom>
          <a:solidFill>
            <a:srgbClr val="4A3B4A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B5798E">
                <a:alpha val="20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9966960" y="3474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Tinta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966960" y="37490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#4A3B4A</a:t>
            </a:r>
            <a:endParaRPr lang="en-US" sz="1000" dirty="0"/>
          </a:p>
        </p:txBody>
      </p:sp>
      <p:sp>
        <p:nvSpPr>
          <p:cNvPr id="29" name="Tipografia"/>
          <p:cNvSpPr/>
          <p:nvPr/>
        </p:nvSpPr>
        <p:spPr>
          <a:xfrm>
            <a:off x="640080" y="4206240"/>
            <a:ext cx="5303520" cy="2103120"/>
          </a:xfrm>
          <a:prstGeom prst="roundRect">
            <a:avLst>
              <a:gd name="adj" fmla="val 9565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914400" y="4297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Tipografia: Poppins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14400" y="47091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Aa Bb Cc 123</a:t>
            </a:r>
            <a:endParaRPr lang="en-US" sz="3600" dirty="0"/>
          </a:p>
        </p:txBody>
      </p:sp>
      <p:sp>
        <p:nvSpPr>
          <p:cNvPr id="32" name="Text 30"/>
          <p:cNvSpPr txBox="1"/>
          <p:nvPr/>
        </p:nvSpPr>
        <p:spPr>
          <a:xfrm>
            <a:off x="914400" y="55321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Arredondada e amigável, em quatro pesos: normal, médio, seminegrito e negrito.</a:t>
            </a:r>
            <a:endParaRPr lang="en-US" sz="1250" dirty="0"/>
          </a:p>
        </p:txBody>
      </p:sp>
      <p:sp>
        <p:nvSpPr>
          <p:cNvPr id="33" name="Ícones"/>
          <p:cNvSpPr/>
          <p:nvPr/>
        </p:nvSpPr>
        <p:spPr>
          <a:xfrm>
            <a:off x="6217920" y="4206240"/>
            <a:ext cx="5303520" cy="2103120"/>
          </a:xfrm>
          <a:prstGeom prst="roundRect">
            <a:avLst>
              <a:gd name="adj" fmla="val 9565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492240" y="4297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Ícones de linha</a:t>
            </a:r>
            <a:endParaRPr lang="en-US" sz="1600" dirty="0"/>
          </a:p>
        </p:txBody>
      </p:sp>
      <p:sp>
        <p:nvSpPr>
          <p:cNvPr id="35" name="Ícone"/>
          <p:cNvSpPr/>
          <p:nvPr/>
        </p:nvSpPr>
        <p:spPr>
          <a:xfrm>
            <a:off x="6492240" y="470916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36" name="Image 0" descr="dumbbe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2999" y="4839919"/>
            <a:ext cx="332842" cy="332842"/>
          </a:xfrm>
          <a:prstGeom prst="rect">
            <a:avLst/>
          </a:prstGeom>
        </p:spPr>
      </p:pic>
      <p:sp>
        <p:nvSpPr>
          <p:cNvPr id="37" name="Ícone"/>
          <p:cNvSpPr/>
          <p:nvPr/>
        </p:nvSpPr>
        <p:spPr>
          <a:xfrm>
            <a:off x="7452360" y="470916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38" name="Image 1" descr="lea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3119" y="4839919"/>
            <a:ext cx="332842" cy="332842"/>
          </a:xfrm>
          <a:prstGeom prst="rect">
            <a:avLst/>
          </a:prstGeom>
        </p:spPr>
      </p:pic>
      <p:sp>
        <p:nvSpPr>
          <p:cNvPr id="39" name="Ícone"/>
          <p:cNvSpPr/>
          <p:nvPr/>
        </p:nvSpPr>
        <p:spPr>
          <a:xfrm>
            <a:off x="8412480" y="470916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40" name="Image 2" descr="activit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3239" y="4839919"/>
            <a:ext cx="332842" cy="332842"/>
          </a:xfrm>
          <a:prstGeom prst="rect">
            <a:avLst/>
          </a:prstGeom>
        </p:spPr>
      </p:pic>
      <p:sp>
        <p:nvSpPr>
          <p:cNvPr id="41" name="Ícone"/>
          <p:cNvSpPr/>
          <p:nvPr/>
        </p:nvSpPr>
        <p:spPr>
          <a:xfrm>
            <a:off x="9372600" y="470916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42" name="Image 3" descr="tre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3359" y="4839919"/>
            <a:ext cx="332842" cy="332842"/>
          </a:xfrm>
          <a:prstGeom prst="rect">
            <a:avLst/>
          </a:prstGeom>
        </p:spPr>
      </p:pic>
      <p:sp>
        <p:nvSpPr>
          <p:cNvPr id="43" name="Ícone"/>
          <p:cNvSpPr/>
          <p:nvPr/>
        </p:nvSpPr>
        <p:spPr>
          <a:xfrm>
            <a:off x="10332720" y="470916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44" name="Image 4" descr="us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63479" y="4839919"/>
            <a:ext cx="332842" cy="332842"/>
          </a:xfrm>
          <a:prstGeom prst="rect">
            <a:avLst/>
          </a:prstGeom>
        </p:spPr>
      </p:pic>
      <p:sp>
        <p:nvSpPr>
          <p:cNvPr id="45" name="Ícone"/>
          <p:cNvSpPr/>
          <p:nvPr/>
        </p:nvSpPr>
        <p:spPr>
          <a:xfrm>
            <a:off x="6492240" y="544068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46" name="Image 5" descr="drople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2999" y="5571439"/>
            <a:ext cx="332842" cy="332842"/>
          </a:xfrm>
          <a:prstGeom prst="rect">
            <a:avLst/>
          </a:prstGeom>
        </p:spPr>
      </p:pic>
      <p:sp>
        <p:nvSpPr>
          <p:cNvPr id="47" name="Ícone"/>
          <p:cNvSpPr/>
          <p:nvPr/>
        </p:nvSpPr>
        <p:spPr>
          <a:xfrm>
            <a:off x="7452360" y="544068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48" name="Image 6" descr="targe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3119" y="5571439"/>
            <a:ext cx="332842" cy="332842"/>
          </a:xfrm>
          <a:prstGeom prst="rect">
            <a:avLst/>
          </a:prstGeom>
        </p:spPr>
      </p:pic>
      <p:sp>
        <p:nvSpPr>
          <p:cNvPr id="49" name="Ícone"/>
          <p:cNvSpPr/>
          <p:nvPr/>
        </p:nvSpPr>
        <p:spPr>
          <a:xfrm>
            <a:off x="8412480" y="544068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50" name="Image 7" descr="sta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43239" y="5571439"/>
            <a:ext cx="332842" cy="332842"/>
          </a:xfrm>
          <a:prstGeom prst="rect">
            <a:avLst/>
          </a:prstGeom>
        </p:spPr>
      </p:pic>
      <p:sp>
        <p:nvSpPr>
          <p:cNvPr id="51" name="Ícone"/>
          <p:cNvSpPr/>
          <p:nvPr/>
        </p:nvSpPr>
        <p:spPr>
          <a:xfrm>
            <a:off x="9372600" y="544068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52" name="Image 8" descr="flam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03359" y="5571439"/>
            <a:ext cx="332842" cy="332842"/>
          </a:xfrm>
          <a:prstGeom prst="rect">
            <a:avLst/>
          </a:prstGeom>
        </p:spPr>
      </p:pic>
      <p:sp>
        <p:nvSpPr>
          <p:cNvPr id="53" name="Ícone"/>
          <p:cNvSpPr/>
          <p:nvPr/>
        </p:nvSpPr>
        <p:spPr>
          <a:xfrm>
            <a:off x="10332720" y="544068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54" name="Image 9" descr="sparkles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63479" y="5571439"/>
            <a:ext cx="332842" cy="332842"/>
          </a:xfrm>
          <a:prstGeom prst="rect">
            <a:avLst/>
          </a:prstGeom>
        </p:spPr>
      </p:pic>
      <p:sp>
        <p:nvSpPr>
          <p:cNvPr id="55" name="Text 43"/>
          <p:cNvSpPr txBox="1"/>
          <p:nvPr/>
        </p:nvSpPr>
        <p:spPr>
          <a:xfrm>
            <a:off x="6492240" y="5989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mesmos ícones da app, em traço fino e cantos arredondados.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USABILIDADE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Teste de usabilidade: o percurso de um treino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Observei utilizadoras reais a usar a app num treino típico e registei o percurso e os pontos de hesitação.</a:t>
            </a:r>
            <a:endParaRPr lang="en-US" sz="1350" dirty="0"/>
          </a:p>
        </p:txBody>
      </p:sp>
      <p:sp>
        <p:nvSpPr>
          <p:cNvPr id="7" name="Passo"/>
          <p:cNvSpPr/>
          <p:nvPr/>
        </p:nvSpPr>
        <p:spPr>
          <a:xfrm>
            <a:off x="640080" y="2103120"/>
            <a:ext cx="2560320" cy="1783080"/>
          </a:xfrm>
          <a:prstGeom prst="roundRect">
            <a:avLst>
              <a:gd name="adj" fmla="val 1128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8" name="Número"/>
          <p:cNvSpPr/>
          <p:nvPr/>
        </p:nvSpPr>
        <p:spPr>
          <a:xfrm>
            <a:off x="822960" y="2286000"/>
            <a:ext cx="457200" cy="457200"/>
          </a:xfrm>
          <a:prstGeom prst="ellipse">
            <a:avLst/>
          </a:prstGeom>
          <a:solidFill>
            <a:srgbClr val="9C5A74"/>
          </a:solidFill>
          <a:ln w="12700">
            <a:solidFill>
              <a:srgbClr val="9C5A74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DF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400" dirty="0"/>
          </a:p>
        </p:txBody>
      </p:sp>
      <p:pic>
        <p:nvPicPr>
          <p:cNvPr id="10" name="Image 0" descr="dumbbe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040" y="2286000"/>
            <a:ext cx="411480" cy="41148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22960" y="29260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Abrem o treino que querem fazer</a:t>
            </a:r>
            <a:endParaRPr lang="en-US" sz="1300" dirty="0"/>
          </a:p>
        </p:txBody>
      </p:sp>
      <p:sp>
        <p:nvSpPr>
          <p:cNvPr id="12" name="Passo"/>
          <p:cNvSpPr/>
          <p:nvPr/>
        </p:nvSpPr>
        <p:spPr>
          <a:xfrm>
            <a:off x="3383280" y="2103120"/>
            <a:ext cx="2560320" cy="1783080"/>
          </a:xfrm>
          <a:prstGeom prst="roundRect">
            <a:avLst>
              <a:gd name="adj" fmla="val 1128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3" name="Número"/>
          <p:cNvSpPr/>
          <p:nvPr/>
        </p:nvSpPr>
        <p:spPr>
          <a:xfrm>
            <a:off x="3566160" y="2286000"/>
            <a:ext cx="457200" cy="457200"/>
          </a:xfrm>
          <a:prstGeom prst="ellipse">
            <a:avLst/>
          </a:prstGeom>
          <a:solidFill>
            <a:srgbClr val="9C5A74"/>
          </a:solidFill>
          <a:ln w="12700">
            <a:solidFill>
              <a:srgbClr val="9C5A74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56616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DF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400" dirty="0"/>
          </a:p>
        </p:txBody>
      </p:sp>
      <p:pic>
        <p:nvPicPr>
          <p:cNvPr id="15" name="Image 1" descr="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2286000"/>
            <a:ext cx="411480" cy="41148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566160" y="29260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Abrem o aquecimento (alongamentos) e fecham</a:t>
            </a:r>
            <a:endParaRPr lang="en-US" sz="1300" dirty="0"/>
          </a:p>
        </p:txBody>
      </p:sp>
      <p:sp>
        <p:nvSpPr>
          <p:cNvPr id="17" name="Passo"/>
          <p:cNvSpPr/>
          <p:nvPr/>
        </p:nvSpPr>
        <p:spPr>
          <a:xfrm>
            <a:off x="6126480" y="2103120"/>
            <a:ext cx="2560320" cy="1783080"/>
          </a:xfrm>
          <a:prstGeom prst="roundRect">
            <a:avLst>
              <a:gd name="adj" fmla="val 1128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8" name="Número"/>
          <p:cNvSpPr/>
          <p:nvPr/>
        </p:nvSpPr>
        <p:spPr>
          <a:xfrm>
            <a:off x="6309360" y="2286000"/>
            <a:ext cx="457200" cy="457200"/>
          </a:xfrm>
          <a:prstGeom prst="ellipse">
            <a:avLst/>
          </a:prstGeom>
          <a:solidFill>
            <a:srgbClr val="9C5A74"/>
          </a:solidFill>
          <a:ln w="12700">
            <a:solidFill>
              <a:srgbClr val="9C5A74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30936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DF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400" dirty="0"/>
          </a:p>
        </p:txBody>
      </p:sp>
      <p:pic>
        <p:nvPicPr>
          <p:cNvPr id="20" name="Image 2" descr="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2286000"/>
            <a:ext cx="411480" cy="41148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309360" y="29260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Escolhem os exercícios</a:t>
            </a:r>
            <a:endParaRPr lang="en-US" sz="1300" dirty="0"/>
          </a:p>
        </p:txBody>
      </p:sp>
      <p:sp>
        <p:nvSpPr>
          <p:cNvPr id="22" name="Passo"/>
          <p:cNvSpPr/>
          <p:nvPr/>
        </p:nvSpPr>
        <p:spPr>
          <a:xfrm>
            <a:off x="8869680" y="2103120"/>
            <a:ext cx="2560320" cy="1783080"/>
          </a:xfrm>
          <a:prstGeom prst="roundRect">
            <a:avLst>
              <a:gd name="adj" fmla="val 1128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3" name="Número"/>
          <p:cNvSpPr/>
          <p:nvPr/>
        </p:nvSpPr>
        <p:spPr>
          <a:xfrm>
            <a:off x="9052560" y="2286000"/>
            <a:ext cx="457200" cy="457200"/>
          </a:xfrm>
          <a:prstGeom prst="ellipse">
            <a:avLst/>
          </a:prstGeom>
          <a:solidFill>
            <a:srgbClr val="9C5A74"/>
          </a:solidFill>
          <a:ln w="12700">
            <a:solidFill>
              <a:srgbClr val="9C5A74">
                <a:alpha val="0"/>
              </a:srgbClr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905256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DF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400" dirty="0"/>
          </a:p>
        </p:txBody>
      </p:sp>
      <p:pic>
        <p:nvPicPr>
          <p:cNvPr id="25" name="Image 3" descr="penci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35640" y="2286000"/>
            <a:ext cx="411480" cy="41148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052560" y="29260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Registam as cargas que fizeram</a:t>
            </a:r>
            <a:endParaRPr lang="en-US" sz="1300" dirty="0"/>
          </a:p>
        </p:txBody>
      </p:sp>
      <p:sp>
        <p:nvSpPr>
          <p:cNvPr id="27" name="Passo"/>
          <p:cNvSpPr/>
          <p:nvPr/>
        </p:nvSpPr>
        <p:spPr>
          <a:xfrm>
            <a:off x="640080" y="4114800"/>
            <a:ext cx="2560320" cy="1783080"/>
          </a:xfrm>
          <a:prstGeom prst="roundRect">
            <a:avLst>
              <a:gd name="adj" fmla="val 1128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8" name="Número"/>
          <p:cNvSpPr/>
          <p:nvPr/>
        </p:nvSpPr>
        <p:spPr>
          <a:xfrm>
            <a:off x="822960" y="4297680"/>
            <a:ext cx="457200" cy="457200"/>
          </a:xfrm>
          <a:prstGeom prst="ellipse">
            <a:avLst/>
          </a:prstGeom>
          <a:solidFill>
            <a:srgbClr val="9C5A74"/>
          </a:solidFill>
          <a:ln w="12700">
            <a:solidFill>
              <a:srgbClr val="9C5A74">
                <a:alpha val="0"/>
              </a:srgbClr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82296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DF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400" dirty="0"/>
          </a:p>
        </p:txBody>
      </p:sp>
      <p:pic>
        <p:nvPicPr>
          <p:cNvPr id="30" name="Image 4" descr="tim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6040" y="4297680"/>
            <a:ext cx="411480" cy="41148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822960" y="493776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Ligam o temporizador de descanso</a:t>
            </a:r>
            <a:endParaRPr lang="en-US" sz="1300" dirty="0"/>
          </a:p>
        </p:txBody>
      </p:sp>
      <p:sp>
        <p:nvSpPr>
          <p:cNvPr id="32" name="Passo"/>
          <p:cNvSpPr/>
          <p:nvPr/>
        </p:nvSpPr>
        <p:spPr>
          <a:xfrm>
            <a:off x="3383280" y="4114800"/>
            <a:ext cx="2560320" cy="1783080"/>
          </a:xfrm>
          <a:prstGeom prst="roundRect">
            <a:avLst>
              <a:gd name="adj" fmla="val 1128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3" name="Número"/>
          <p:cNvSpPr/>
          <p:nvPr/>
        </p:nvSpPr>
        <p:spPr>
          <a:xfrm>
            <a:off x="3566160" y="4297680"/>
            <a:ext cx="457200" cy="457200"/>
          </a:xfrm>
          <a:prstGeom prst="ellipse">
            <a:avLst/>
          </a:prstGeom>
          <a:solidFill>
            <a:srgbClr val="9C5A74"/>
          </a:solidFill>
          <a:ln w="12700">
            <a:solidFill>
              <a:srgbClr val="9C5A74">
                <a:alpha val="0"/>
              </a:srgbClr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356616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DF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400" dirty="0"/>
          </a:p>
        </p:txBody>
      </p:sp>
      <p:pic>
        <p:nvPicPr>
          <p:cNvPr id="35" name="Image 5" descr="ale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49240" y="4297680"/>
            <a:ext cx="411480" cy="411480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3566160" y="493776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Fecham a app (faltava um som)</a:t>
            </a:r>
            <a:endParaRPr lang="en-US" sz="1300" dirty="0"/>
          </a:p>
        </p:txBody>
      </p:sp>
      <p:sp>
        <p:nvSpPr>
          <p:cNvPr id="37" name="Passo"/>
          <p:cNvSpPr/>
          <p:nvPr/>
        </p:nvSpPr>
        <p:spPr>
          <a:xfrm>
            <a:off x="6126480" y="4114800"/>
            <a:ext cx="2560320" cy="1783080"/>
          </a:xfrm>
          <a:prstGeom prst="roundRect">
            <a:avLst>
              <a:gd name="adj" fmla="val 1128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8" name="Número"/>
          <p:cNvSpPr/>
          <p:nvPr/>
        </p:nvSpPr>
        <p:spPr>
          <a:xfrm>
            <a:off x="6309360" y="4297680"/>
            <a:ext cx="457200" cy="457200"/>
          </a:xfrm>
          <a:prstGeom prst="ellipse">
            <a:avLst/>
          </a:prstGeom>
          <a:solidFill>
            <a:srgbClr val="9C5A74"/>
          </a:solidFill>
          <a:ln w="12700">
            <a:solidFill>
              <a:srgbClr val="9C5A74">
                <a:alpha val="0"/>
              </a:srgbClr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630936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DF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400" dirty="0"/>
          </a:p>
        </p:txBody>
      </p:sp>
      <p:pic>
        <p:nvPicPr>
          <p:cNvPr id="40" name="Image 6" descr="activity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92440" y="4297680"/>
            <a:ext cx="411480" cy="411480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6309360" y="493776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fim, abrem os alongamentos finais</a:t>
            </a:r>
            <a:endParaRPr lang="en-US" sz="1300" dirty="0"/>
          </a:p>
        </p:txBody>
      </p:sp>
      <p:sp>
        <p:nvSpPr>
          <p:cNvPr id="42" name="Passo"/>
          <p:cNvSpPr/>
          <p:nvPr/>
        </p:nvSpPr>
        <p:spPr>
          <a:xfrm>
            <a:off x="8869680" y="4114800"/>
            <a:ext cx="2560320" cy="1783080"/>
          </a:xfrm>
          <a:prstGeom prst="roundRect">
            <a:avLst>
              <a:gd name="adj" fmla="val 11282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43" name="Número"/>
          <p:cNvSpPr/>
          <p:nvPr/>
        </p:nvSpPr>
        <p:spPr>
          <a:xfrm>
            <a:off x="9052560" y="4297680"/>
            <a:ext cx="457200" cy="457200"/>
          </a:xfrm>
          <a:prstGeom prst="ellipse">
            <a:avLst/>
          </a:prstGeom>
          <a:solidFill>
            <a:srgbClr val="9C5A74"/>
          </a:solidFill>
          <a:ln w="12700">
            <a:solidFill>
              <a:srgbClr val="9C5A74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905256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DF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400" dirty="0"/>
          </a:p>
        </p:txBody>
      </p:sp>
      <p:pic>
        <p:nvPicPr>
          <p:cNvPr id="45" name="Image 7" descr="trend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35640" y="4297680"/>
            <a:ext cx="411480" cy="411480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9052560" y="493776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Vão ao Progresso ver o treino do dia</a:t>
            </a:r>
            <a:endParaRPr lang="en-US" sz="1300" dirty="0"/>
          </a:p>
        </p:txBody>
      </p:sp>
      <p:sp>
        <p:nvSpPr>
          <p:cNvPr id="47" name="Text 37"/>
          <p:cNvSpPr txBox="1"/>
          <p:nvPr/>
        </p:nvSpPr>
        <p:spPr>
          <a:xfrm>
            <a:off x="640080" y="6172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Treino e Progresso são o coração da app. Alimentação e Medições são apoio.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USABILIDADE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descobri e o que fiz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</a:t>
            </a:r>
            <a:endParaRPr lang="en-US" sz="1000" dirty="0"/>
          </a:p>
        </p:txBody>
      </p:sp>
      <p:sp>
        <p:nvSpPr>
          <p:cNvPr id="6" name="Descoberta"/>
          <p:cNvSpPr/>
          <p:nvPr/>
        </p:nvSpPr>
        <p:spPr>
          <a:xfrm>
            <a:off x="640080" y="1554480"/>
            <a:ext cx="10881360" cy="822960"/>
          </a:xfrm>
          <a:prstGeom prst="roundRect">
            <a:avLst>
              <a:gd name="adj" fmla="val 24444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Ícone"/>
          <p:cNvSpPr/>
          <p:nvPr/>
        </p:nvSpPr>
        <p:spPr>
          <a:xfrm>
            <a:off x="822960" y="169164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8" name="Image 0" descr="activi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661" y="1812341"/>
            <a:ext cx="307238" cy="30723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54480" y="159105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Hesitam nos alongamentos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1554480" y="1975104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parte dos alongamentos não é clara de imediato</a:t>
            </a:r>
            <a:endParaRPr lang="en-US" sz="1050" dirty="0"/>
          </a:p>
        </p:txBody>
      </p:sp>
      <p:sp>
        <p:nvSpPr>
          <p:cNvPr id="11" name="Etiqueta"/>
          <p:cNvSpPr/>
          <p:nvPr/>
        </p:nvSpPr>
        <p:spPr>
          <a:xfrm>
            <a:off x="5029200" y="1755648"/>
            <a:ext cx="6309360" cy="420624"/>
          </a:xfrm>
          <a:prstGeom prst="roundRect">
            <a:avLst>
              <a:gd name="adj" fmla="val 5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29200" y="1755648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Próximo passo: separar com clareza o aquecimento (antes) dos alongamentos finais (depois)</a:t>
            </a:r>
            <a:endParaRPr lang="en-US" sz="1100" dirty="0"/>
          </a:p>
        </p:txBody>
      </p:sp>
      <p:sp>
        <p:nvSpPr>
          <p:cNvPr id="13" name="Descoberta"/>
          <p:cNvSpPr/>
          <p:nvPr/>
        </p:nvSpPr>
        <p:spPr>
          <a:xfrm>
            <a:off x="640080" y="2487168"/>
            <a:ext cx="10881360" cy="822960"/>
          </a:xfrm>
          <a:prstGeom prst="roundRect">
            <a:avLst>
              <a:gd name="adj" fmla="val 24444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4" name="Ícone"/>
          <p:cNvSpPr/>
          <p:nvPr/>
        </p:nvSpPr>
        <p:spPr>
          <a:xfrm>
            <a:off x="822960" y="2624328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15" name="Image 1" descr="lea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661" y="2745029"/>
            <a:ext cx="307238" cy="30723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554480" y="25237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Pouca atenção à Alimentação</a:t>
            </a:r>
            <a:endParaRPr lang="en-US" sz="1250" dirty="0"/>
          </a:p>
        </p:txBody>
      </p:sp>
      <p:sp>
        <p:nvSpPr>
          <p:cNvPr id="17" name="Text 13"/>
          <p:cNvSpPr txBox="1"/>
          <p:nvPr/>
        </p:nvSpPr>
        <p:spPr>
          <a:xfrm>
            <a:off x="1554480" y="2907792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é usada a cada treino</a:t>
            </a:r>
            <a:endParaRPr lang="en-US" sz="1050" dirty="0"/>
          </a:p>
        </p:txBody>
      </p:sp>
      <p:sp>
        <p:nvSpPr>
          <p:cNvPr id="18" name="Etiqueta"/>
          <p:cNvSpPr/>
          <p:nvPr/>
        </p:nvSpPr>
        <p:spPr>
          <a:xfrm>
            <a:off x="5029200" y="2688336"/>
            <a:ext cx="6309360" cy="420624"/>
          </a:xfrm>
          <a:prstGeom prst="roundRect">
            <a:avLst>
              <a:gd name="adj" fmla="val 5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029200" y="2688336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Próximo passo: simplificar e encurtar</a:t>
            </a:r>
            <a:endParaRPr lang="en-US" sz="1100" dirty="0"/>
          </a:p>
        </p:txBody>
      </p:sp>
      <p:sp>
        <p:nvSpPr>
          <p:cNvPr id="20" name="Descoberta"/>
          <p:cNvSpPr/>
          <p:nvPr/>
        </p:nvSpPr>
        <p:spPr>
          <a:xfrm>
            <a:off x="640080" y="3419856"/>
            <a:ext cx="10881360" cy="822960"/>
          </a:xfrm>
          <a:prstGeom prst="roundRect">
            <a:avLst>
              <a:gd name="adj" fmla="val 24444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1" name="Ícone"/>
          <p:cNvSpPr/>
          <p:nvPr/>
        </p:nvSpPr>
        <p:spPr>
          <a:xfrm>
            <a:off x="822960" y="3557016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22" name="Image 2" descr="activit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661" y="3677717"/>
            <a:ext cx="307238" cy="30723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554480" y="345643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Medições só para consultar</a:t>
            </a:r>
            <a:endParaRPr lang="en-US" sz="1250" dirty="0"/>
          </a:p>
        </p:txBody>
      </p:sp>
      <p:sp>
        <p:nvSpPr>
          <p:cNvPr id="24" name="Text 19"/>
          <p:cNvSpPr txBox="1"/>
          <p:nvPr/>
        </p:nvSpPr>
        <p:spPr>
          <a:xfrm>
            <a:off x="1554480" y="3840480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Abrem-na só quando querem ver ou registar uma medida</a:t>
            </a:r>
            <a:endParaRPr lang="en-US" sz="1050" dirty="0"/>
          </a:p>
        </p:txBody>
      </p:sp>
      <p:sp>
        <p:nvSpPr>
          <p:cNvPr id="25" name="Etiqueta"/>
          <p:cNvSpPr/>
          <p:nvPr/>
        </p:nvSpPr>
        <p:spPr>
          <a:xfrm>
            <a:off x="5029200" y="3621024"/>
            <a:ext cx="6309360" cy="420624"/>
          </a:xfrm>
          <a:prstGeom prst="roundRect">
            <a:avLst>
              <a:gd name="adj" fmla="val 5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029200" y="3621024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Manter como aba de consulta pontual</a:t>
            </a:r>
            <a:endParaRPr lang="en-US" sz="1100" dirty="0"/>
          </a:p>
        </p:txBody>
      </p:sp>
      <p:sp>
        <p:nvSpPr>
          <p:cNvPr id="27" name="Descoberta"/>
          <p:cNvSpPr/>
          <p:nvPr/>
        </p:nvSpPr>
        <p:spPr>
          <a:xfrm>
            <a:off x="640080" y="4352544"/>
            <a:ext cx="10881360" cy="822960"/>
          </a:xfrm>
          <a:prstGeom prst="roundRect">
            <a:avLst>
              <a:gd name="adj" fmla="val 24444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8" name="Ícone"/>
          <p:cNvSpPr/>
          <p:nvPr/>
        </p:nvSpPr>
        <p:spPr>
          <a:xfrm>
            <a:off x="822960" y="4489704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29" name="Image 3" descr="tim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661" y="4610405"/>
            <a:ext cx="307238" cy="30723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1554480" y="4389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Fecham a app com o temporizador</a:t>
            </a:r>
            <a:endParaRPr lang="en-US" sz="1250" dirty="0"/>
          </a:p>
        </p:txBody>
      </p:sp>
      <p:sp>
        <p:nvSpPr>
          <p:cNvPr id="31" name="Text 25"/>
          <p:cNvSpPr txBox="1"/>
          <p:nvPr/>
        </p:nvSpPr>
        <p:spPr>
          <a:xfrm>
            <a:off x="1554480" y="4773168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aviso, perdem o fim do descanso</a:t>
            </a:r>
            <a:endParaRPr lang="en-US" sz="1050" dirty="0"/>
          </a:p>
        </p:txBody>
      </p:sp>
      <p:sp>
        <p:nvSpPr>
          <p:cNvPr id="32" name="Etiqueta"/>
          <p:cNvSpPr/>
          <p:nvPr/>
        </p:nvSpPr>
        <p:spPr>
          <a:xfrm>
            <a:off x="5029200" y="4553712"/>
            <a:ext cx="6309360" cy="420624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5029200" y="4553712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Feito: notificação com a contagem e alarme no fim</a:t>
            </a:r>
            <a:endParaRPr lang="en-US" sz="1100" dirty="0"/>
          </a:p>
        </p:txBody>
      </p:sp>
      <p:sp>
        <p:nvSpPr>
          <p:cNvPr id="34" name="Descoberta"/>
          <p:cNvSpPr/>
          <p:nvPr/>
        </p:nvSpPr>
        <p:spPr>
          <a:xfrm>
            <a:off x="640080" y="5285232"/>
            <a:ext cx="10881360" cy="822960"/>
          </a:xfrm>
          <a:prstGeom prst="roundRect">
            <a:avLst>
              <a:gd name="adj" fmla="val 24444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5" name="Ícone"/>
          <p:cNvSpPr/>
          <p:nvPr/>
        </p:nvSpPr>
        <p:spPr>
          <a:xfrm>
            <a:off x="822960" y="5422392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36" name="Image 4" descr="inf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661" y="5543093"/>
            <a:ext cx="307238" cy="30723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554480" y="53218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Contraste baixo em vários textos</a:t>
            </a:r>
            <a:endParaRPr lang="en-US" sz="1250" dirty="0"/>
          </a:p>
        </p:txBody>
      </p:sp>
      <p:sp>
        <p:nvSpPr>
          <p:cNvPr id="38" name="Text 31"/>
          <p:cNvSpPr txBox="1"/>
          <p:nvPr/>
        </p:nvSpPr>
        <p:spPr>
          <a:xfrm>
            <a:off x="1554480" y="5705856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Dificulta a leitura, sobretudo com luz do dia</a:t>
            </a:r>
            <a:endParaRPr lang="en-US" sz="1050" dirty="0"/>
          </a:p>
        </p:txBody>
      </p:sp>
      <p:sp>
        <p:nvSpPr>
          <p:cNvPr id="39" name="Etiqueta"/>
          <p:cNvSpPr/>
          <p:nvPr/>
        </p:nvSpPr>
        <p:spPr>
          <a:xfrm>
            <a:off x="5029200" y="5486400"/>
            <a:ext cx="6309360" cy="420624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5029200" y="5486400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Feito: de 105 problemas para 0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ACESSIBILIDADE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Auditoria de contraste: de 105 problemas para 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4173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Auditoria automática (axe-core, norma WCAG 2.1 nível AA, mínimo de 4,5:1 para texto normal) em seis ecrãs no formato de telemóvel: entrada, treino, alimentação, medições, progresso e perfil, com dados fictícios.</a:t>
            </a:r>
            <a:endParaRPr lang="en-US" sz="1300" dirty="0"/>
          </a:p>
        </p:txBody>
      </p:sp>
      <p:sp>
        <p:nvSpPr>
          <p:cNvPr id="7" name="Antes e depois"/>
          <p:cNvSpPr/>
          <p:nvPr/>
        </p:nvSpPr>
        <p:spPr>
          <a:xfrm>
            <a:off x="640080" y="2377440"/>
            <a:ext cx="5303520" cy="2286000"/>
          </a:xfrm>
          <a:prstGeom prst="roundRect">
            <a:avLst>
              <a:gd name="adj" fmla="val 880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8" name="Etiqueta"/>
          <p:cNvSpPr/>
          <p:nvPr/>
        </p:nvSpPr>
        <p:spPr>
          <a:xfrm>
            <a:off x="914400" y="256032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25603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971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105</a:t>
            </a:r>
            <a:endParaRPr lang="en-US" sz="66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114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elementos com contraste insuficiente</a:t>
            </a:r>
            <a:endParaRPr lang="en-US" sz="1300" dirty="0"/>
          </a:p>
        </p:txBody>
      </p:sp>
      <p:sp>
        <p:nvSpPr>
          <p:cNvPr id="12" name="Antes e depois"/>
          <p:cNvSpPr/>
          <p:nvPr/>
        </p:nvSpPr>
        <p:spPr>
          <a:xfrm>
            <a:off x="6217920" y="2377440"/>
            <a:ext cx="5303520" cy="2286000"/>
          </a:xfrm>
          <a:prstGeom prst="roundRect">
            <a:avLst>
              <a:gd name="adj" fmla="val 880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3" name="Etiqueta"/>
          <p:cNvSpPr/>
          <p:nvPr/>
        </p:nvSpPr>
        <p:spPr>
          <a:xfrm>
            <a:off x="6492240" y="256032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92240" y="25603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Depois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2971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660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4114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elementos com contraste insuficiente</a:t>
            </a:r>
            <a:endParaRPr lang="en-US" sz="1300" dirty="0"/>
          </a:p>
        </p:txBody>
      </p:sp>
      <p:sp>
        <p:nvSpPr>
          <p:cNvPr id="17" name="Pior"/>
          <p:cNvSpPr/>
          <p:nvPr/>
        </p:nvSpPr>
        <p:spPr>
          <a:xfrm>
            <a:off x="640080" y="4937760"/>
            <a:ext cx="5303520" cy="1280160"/>
          </a:xfrm>
          <a:prstGeom prst="roundRect">
            <a:avLst>
              <a:gd name="adj" fmla="val 15714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68680" y="50292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Pior contraste encontrado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544068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Antes: 2,2:1. Depois: todos acima de 4,5:1.</a:t>
            </a:r>
            <a:endParaRPr lang="en-US" sz="1400" dirty="0"/>
          </a:p>
        </p:txBody>
      </p:sp>
      <p:sp>
        <p:nvSpPr>
          <p:cNvPr id="20" name="Regras completas"/>
          <p:cNvSpPr/>
          <p:nvPr/>
        </p:nvSpPr>
        <p:spPr>
          <a:xfrm>
            <a:off x="6217920" y="4937760"/>
            <a:ext cx="5303520" cy="1280160"/>
          </a:xfrm>
          <a:prstGeom prst="roundRect">
            <a:avLst>
              <a:gd name="adj" fmla="val 15714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446520" y="50292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Regras WCAG A e AA, todas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46520" y="54406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violações automáticas nos seis ecrãs. Corrigi também as etiquetas dos dias futuros do calendário.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ACESSIBILIDADE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Mais contraste, sem perder o ar fofo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417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Mudei só as cores do texto e dos botões, mantendo os fundos pastel. Os tons ficaram mais profundos, na mesma família de rosa e lilás.</a:t>
            </a:r>
            <a:endParaRPr lang="en-US" sz="1350" dirty="0"/>
          </a:p>
        </p:txBody>
      </p:sp>
      <p:sp>
        <p:nvSpPr>
          <p:cNvPr id="7" name="Cor"/>
          <p:cNvSpPr/>
          <p:nvPr/>
        </p:nvSpPr>
        <p:spPr>
          <a:xfrm>
            <a:off x="640080" y="2148840"/>
            <a:ext cx="10881360" cy="841248"/>
          </a:xfrm>
          <a:prstGeom prst="roundRect">
            <a:avLst>
              <a:gd name="adj" fmla="val 23913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68680" y="2377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Texto secundário (cinzento)</a:t>
            </a:r>
            <a:endParaRPr lang="en-US" sz="1350" dirty="0"/>
          </a:p>
        </p:txBody>
      </p:sp>
      <p:sp>
        <p:nvSpPr>
          <p:cNvPr id="9" name="Antes"/>
          <p:cNvSpPr/>
          <p:nvPr/>
        </p:nvSpPr>
        <p:spPr>
          <a:xfrm>
            <a:off x="4480560" y="2313432"/>
            <a:ext cx="502920" cy="502920"/>
          </a:xfrm>
          <a:prstGeom prst="ellipse">
            <a:avLst/>
          </a:prstGeom>
          <a:solidFill>
            <a:srgbClr val="A99BA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74920" y="23957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#A99BA9</a:t>
            </a:r>
            <a:endParaRPr lang="en-US" sz="1100" dirty="0"/>
          </a:p>
        </p:txBody>
      </p:sp>
      <p:pic>
        <p:nvPicPr>
          <p:cNvPr id="11" name="Image 0" descr="arrow-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377440"/>
            <a:ext cx="365760" cy="365760"/>
          </a:xfrm>
          <a:prstGeom prst="rect">
            <a:avLst/>
          </a:prstGeom>
        </p:spPr>
      </p:pic>
      <p:sp>
        <p:nvSpPr>
          <p:cNvPr id="12" name="Depois"/>
          <p:cNvSpPr/>
          <p:nvPr/>
        </p:nvSpPr>
        <p:spPr>
          <a:xfrm>
            <a:off x="6858000" y="2313432"/>
            <a:ext cx="502920" cy="502920"/>
          </a:xfrm>
          <a:prstGeom prst="ellipse">
            <a:avLst/>
          </a:prstGeom>
          <a:solidFill>
            <a:srgbClr val="6E5F6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452360" y="23957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#6E5F6E</a:t>
            </a:r>
            <a:endParaRPr lang="en-US" sz="1100" dirty="0"/>
          </a:p>
        </p:txBody>
      </p:sp>
      <p:sp>
        <p:nvSpPr>
          <p:cNvPr id="14" name="Etiqueta"/>
          <p:cNvSpPr/>
          <p:nvPr/>
        </p:nvSpPr>
        <p:spPr>
          <a:xfrm>
            <a:off x="8869680" y="237744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869680" y="23774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2,6:1 para 5,9:1</a:t>
            </a:r>
            <a:endParaRPr lang="en-US" sz="1100" dirty="0"/>
          </a:p>
        </p:txBody>
      </p:sp>
      <p:sp>
        <p:nvSpPr>
          <p:cNvPr id="16" name="Cor"/>
          <p:cNvSpPr/>
          <p:nvPr/>
        </p:nvSpPr>
        <p:spPr>
          <a:xfrm>
            <a:off x="640080" y="3108960"/>
            <a:ext cx="10881360" cy="841248"/>
          </a:xfrm>
          <a:prstGeom prst="roundRect">
            <a:avLst>
              <a:gd name="adj" fmla="val 23913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868680" y="33375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Rosa de destaque</a:t>
            </a:r>
            <a:endParaRPr lang="en-US" sz="1350" dirty="0"/>
          </a:p>
        </p:txBody>
      </p:sp>
      <p:sp>
        <p:nvSpPr>
          <p:cNvPr id="18" name="Antes"/>
          <p:cNvSpPr/>
          <p:nvPr/>
        </p:nvSpPr>
        <p:spPr>
          <a:xfrm>
            <a:off x="4480560" y="3273552"/>
            <a:ext cx="502920" cy="502920"/>
          </a:xfrm>
          <a:prstGeom prst="ellipse">
            <a:avLst/>
          </a:prstGeom>
          <a:solidFill>
            <a:srgbClr val="B5798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74920" y="335584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#B5798E</a:t>
            </a:r>
            <a:endParaRPr lang="en-US" sz="1100" dirty="0"/>
          </a:p>
        </p:txBody>
      </p:sp>
      <p:pic>
        <p:nvPicPr>
          <p:cNvPr id="20" name="Image 1" descr="arrow-dow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337560"/>
            <a:ext cx="365760" cy="365760"/>
          </a:xfrm>
          <a:prstGeom prst="rect">
            <a:avLst/>
          </a:prstGeom>
        </p:spPr>
      </p:pic>
      <p:sp>
        <p:nvSpPr>
          <p:cNvPr id="21" name="Depois"/>
          <p:cNvSpPr/>
          <p:nvPr/>
        </p:nvSpPr>
        <p:spPr>
          <a:xfrm>
            <a:off x="6858000" y="3273552"/>
            <a:ext cx="502920" cy="502920"/>
          </a:xfrm>
          <a:prstGeom prst="ellipse">
            <a:avLst/>
          </a:prstGeom>
          <a:solidFill>
            <a:srgbClr val="9C5A7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452360" y="335584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#9C5A74</a:t>
            </a:r>
            <a:endParaRPr lang="en-US" sz="1100" dirty="0"/>
          </a:p>
        </p:txBody>
      </p:sp>
      <p:sp>
        <p:nvSpPr>
          <p:cNvPr id="23" name="Etiqueta"/>
          <p:cNvSpPr/>
          <p:nvPr/>
        </p:nvSpPr>
        <p:spPr>
          <a:xfrm>
            <a:off x="8869680" y="333756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869680" y="333756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3,4:1 para 5,0:1</a:t>
            </a:r>
            <a:endParaRPr lang="en-US" sz="1100" dirty="0"/>
          </a:p>
        </p:txBody>
      </p:sp>
      <p:sp>
        <p:nvSpPr>
          <p:cNvPr id="25" name="Cor"/>
          <p:cNvSpPr/>
          <p:nvPr/>
        </p:nvSpPr>
        <p:spPr>
          <a:xfrm>
            <a:off x="640080" y="4069080"/>
            <a:ext cx="10881360" cy="841248"/>
          </a:xfrm>
          <a:prstGeom prst="roundRect">
            <a:avLst>
              <a:gd name="adj" fmla="val 23913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868680" y="4297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Rosa profundo (títulos)</a:t>
            </a:r>
            <a:endParaRPr lang="en-US" sz="1350" dirty="0"/>
          </a:p>
        </p:txBody>
      </p:sp>
      <p:sp>
        <p:nvSpPr>
          <p:cNvPr id="27" name="Antes"/>
          <p:cNvSpPr/>
          <p:nvPr/>
        </p:nvSpPr>
        <p:spPr>
          <a:xfrm>
            <a:off x="4480560" y="4233672"/>
            <a:ext cx="502920" cy="502920"/>
          </a:xfrm>
          <a:prstGeom prst="ellipse">
            <a:avLst/>
          </a:prstGeom>
          <a:solidFill>
            <a:srgbClr val="9C5F7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074920" y="431596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#9C5F76</a:t>
            </a:r>
            <a:endParaRPr lang="en-US" sz="1100" dirty="0"/>
          </a:p>
        </p:txBody>
      </p:sp>
      <p:pic>
        <p:nvPicPr>
          <p:cNvPr id="29" name="Image 2" descr="arrow-d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4297680"/>
            <a:ext cx="365760" cy="365760"/>
          </a:xfrm>
          <a:prstGeom prst="rect">
            <a:avLst/>
          </a:prstGeom>
        </p:spPr>
      </p:pic>
      <p:sp>
        <p:nvSpPr>
          <p:cNvPr id="30" name="Depois"/>
          <p:cNvSpPr/>
          <p:nvPr/>
        </p:nvSpPr>
        <p:spPr>
          <a:xfrm>
            <a:off x="6858000" y="4233672"/>
            <a:ext cx="502920" cy="502920"/>
          </a:xfrm>
          <a:prstGeom prst="ellipse">
            <a:avLst/>
          </a:prstGeom>
          <a:solidFill>
            <a:srgbClr val="8A4B6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7452360" y="431596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#8A4B65</a:t>
            </a:r>
            <a:endParaRPr lang="en-US" sz="1100" dirty="0"/>
          </a:p>
        </p:txBody>
      </p:sp>
      <p:sp>
        <p:nvSpPr>
          <p:cNvPr id="32" name="Etiqueta"/>
          <p:cNvSpPr/>
          <p:nvPr/>
        </p:nvSpPr>
        <p:spPr>
          <a:xfrm>
            <a:off x="8869680" y="429768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8869680" y="42976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4,8:1 para 6,3:1</a:t>
            </a:r>
            <a:endParaRPr lang="en-US" sz="1100" dirty="0"/>
          </a:p>
        </p:txBody>
      </p:sp>
      <p:sp>
        <p:nvSpPr>
          <p:cNvPr id="34" name="Cor"/>
          <p:cNvSpPr/>
          <p:nvPr/>
        </p:nvSpPr>
        <p:spPr>
          <a:xfrm>
            <a:off x="640080" y="5029200"/>
            <a:ext cx="10881360" cy="841248"/>
          </a:xfrm>
          <a:prstGeom prst="roundRect">
            <a:avLst>
              <a:gd name="adj" fmla="val 23913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5" name="Text 30"/>
          <p:cNvSpPr txBox="1"/>
          <p:nvPr/>
        </p:nvSpPr>
        <p:spPr>
          <a:xfrm>
            <a:off x="868680" y="52578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Texto "aka" do cabeçalho</a:t>
            </a:r>
            <a:endParaRPr lang="en-US" sz="1350" dirty="0"/>
          </a:p>
        </p:txBody>
      </p:sp>
      <p:sp>
        <p:nvSpPr>
          <p:cNvPr id="36" name="Antes"/>
          <p:cNvSpPr/>
          <p:nvPr/>
        </p:nvSpPr>
        <p:spPr>
          <a:xfrm>
            <a:off x="4480560" y="5193792"/>
            <a:ext cx="502920" cy="502920"/>
          </a:xfrm>
          <a:prstGeom prst="ellipse">
            <a:avLst/>
          </a:prstGeom>
          <a:solidFill>
            <a:srgbClr val="E27FA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5074920" y="527608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#E27FA8</a:t>
            </a:r>
            <a:endParaRPr lang="en-US" sz="1100" dirty="0"/>
          </a:p>
        </p:txBody>
      </p:sp>
      <p:pic>
        <p:nvPicPr>
          <p:cNvPr id="38" name="Image 3" descr="arrow-dow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5257800"/>
            <a:ext cx="365760" cy="365760"/>
          </a:xfrm>
          <a:prstGeom prst="rect">
            <a:avLst/>
          </a:prstGeom>
        </p:spPr>
      </p:pic>
      <p:sp>
        <p:nvSpPr>
          <p:cNvPr id="39" name="Depois"/>
          <p:cNvSpPr/>
          <p:nvPr/>
        </p:nvSpPr>
        <p:spPr>
          <a:xfrm>
            <a:off x="6858000" y="5193792"/>
            <a:ext cx="502920" cy="502920"/>
          </a:xfrm>
          <a:prstGeom prst="ellipse">
            <a:avLst/>
          </a:prstGeom>
          <a:solidFill>
            <a:srgbClr val="B0456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7452360" y="527608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#B0456F</a:t>
            </a:r>
            <a:endParaRPr lang="en-US" sz="1100" dirty="0"/>
          </a:p>
        </p:txBody>
      </p:sp>
      <p:sp>
        <p:nvSpPr>
          <p:cNvPr id="41" name="Etiqueta"/>
          <p:cNvSpPr/>
          <p:nvPr/>
        </p:nvSpPr>
        <p:spPr>
          <a:xfrm>
            <a:off x="8869680" y="525780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8869680" y="525780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2,6:1 para 5,3:1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640080" y="59893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Também: botões com gradiente mais profundo, título "just butts" mais escuro e letras de 10 a 10,5 px passaram a 11 a 12 px. Não cobre leitores de ecrã, teclado nem daltonismo: ficam como próximos passos.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DECISÕES DE UX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decisão teve uma razão (1/2)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</a:t>
            </a:r>
            <a:endParaRPr lang="en-US" sz="1000" dirty="0"/>
          </a:p>
        </p:txBody>
      </p:sp>
      <p:sp>
        <p:nvSpPr>
          <p:cNvPr id="6" name="Decisão"/>
          <p:cNvSpPr/>
          <p:nvPr/>
        </p:nvSpPr>
        <p:spPr>
          <a:xfrm>
            <a:off x="640080" y="1554480"/>
            <a:ext cx="10881360" cy="1051560"/>
          </a:xfrm>
          <a:prstGeom prst="roundRect">
            <a:avLst>
              <a:gd name="adj" fmla="val 1913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Ícone"/>
          <p:cNvSpPr/>
          <p:nvPr/>
        </p:nvSpPr>
        <p:spPr>
          <a:xfrm>
            <a:off x="868680" y="178308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8" name="Image 0" descr="us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439" y="1913839"/>
            <a:ext cx="332842" cy="33284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91640" y="1645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só app, treino isolado por pessoa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691640" y="20116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Evita várias apps para manter e garante que ninguém vê o treino da outra.</a:t>
            </a:r>
            <a:endParaRPr lang="en-US" sz="1150" dirty="0"/>
          </a:p>
        </p:txBody>
      </p:sp>
      <p:sp>
        <p:nvSpPr>
          <p:cNvPr id="11" name="Etiqueta"/>
          <p:cNvSpPr/>
          <p:nvPr/>
        </p:nvSpPr>
        <p:spPr>
          <a:xfrm>
            <a:off x="6766560" y="173736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66560" y="173736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Antes: Apps separadas</a:t>
            </a:r>
            <a:endParaRPr lang="en-US" sz="1100" dirty="0"/>
          </a:p>
        </p:txBody>
      </p:sp>
      <p:sp>
        <p:nvSpPr>
          <p:cNvPr id="13" name="Etiqueta"/>
          <p:cNvSpPr/>
          <p:nvPr/>
        </p:nvSpPr>
        <p:spPr>
          <a:xfrm>
            <a:off x="6766560" y="2130552"/>
            <a:ext cx="4572000" cy="310896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66560" y="21305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Depois: Um login por pessoa, com o plano certo</a:t>
            </a:r>
            <a:endParaRPr lang="en-US" sz="1100" dirty="0"/>
          </a:p>
        </p:txBody>
      </p:sp>
      <p:sp>
        <p:nvSpPr>
          <p:cNvPr id="15" name="Decisão"/>
          <p:cNvSpPr/>
          <p:nvPr/>
        </p:nvSpPr>
        <p:spPr>
          <a:xfrm>
            <a:off x="640080" y="2724912"/>
            <a:ext cx="10881360" cy="1051560"/>
          </a:xfrm>
          <a:prstGeom prst="roundRect">
            <a:avLst>
              <a:gd name="adj" fmla="val 1913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6" name="Ícone"/>
          <p:cNvSpPr/>
          <p:nvPr/>
        </p:nvSpPr>
        <p:spPr>
          <a:xfrm>
            <a:off x="868680" y="2953512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17" name="Image 1" descr="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439" y="3084271"/>
            <a:ext cx="332842" cy="33284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691640" y="28163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Sessão que se mantém aberta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1691640" y="318211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Pedir a palavra-passe sempre que se abre a app no ginásio irrita.</a:t>
            </a:r>
            <a:endParaRPr lang="en-US" sz="1150" dirty="0"/>
          </a:p>
        </p:txBody>
      </p:sp>
      <p:sp>
        <p:nvSpPr>
          <p:cNvPr id="20" name="Etiqueta"/>
          <p:cNvSpPr/>
          <p:nvPr/>
        </p:nvSpPr>
        <p:spPr>
          <a:xfrm>
            <a:off x="6766560" y="2907792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766560" y="29077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Antes: Login a cada abertura</a:t>
            </a:r>
            <a:endParaRPr lang="en-US" sz="1100" dirty="0"/>
          </a:p>
        </p:txBody>
      </p:sp>
      <p:sp>
        <p:nvSpPr>
          <p:cNvPr id="22" name="Etiqueta"/>
          <p:cNvSpPr/>
          <p:nvPr/>
        </p:nvSpPr>
        <p:spPr>
          <a:xfrm>
            <a:off x="6766560" y="3300984"/>
            <a:ext cx="4572000" cy="310896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766560" y="330098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Depois: Só se sair voluntariamente</a:t>
            </a:r>
            <a:endParaRPr lang="en-US" sz="1100" dirty="0"/>
          </a:p>
        </p:txBody>
      </p:sp>
      <p:sp>
        <p:nvSpPr>
          <p:cNvPr id="24" name="Decisão"/>
          <p:cNvSpPr/>
          <p:nvPr/>
        </p:nvSpPr>
        <p:spPr>
          <a:xfrm>
            <a:off x="640080" y="3895344"/>
            <a:ext cx="10881360" cy="1051560"/>
          </a:xfrm>
          <a:prstGeom prst="roundRect">
            <a:avLst>
              <a:gd name="adj" fmla="val 1913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5" name="Ícone"/>
          <p:cNvSpPr/>
          <p:nvPr/>
        </p:nvSpPr>
        <p:spPr>
          <a:xfrm>
            <a:off x="868680" y="4123944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26" name="Image 2" descr="sparkl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439" y="4254703"/>
            <a:ext cx="332842" cy="332842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1691640" y="398678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Novo nome e tom bem-humorado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1691640" y="4352544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Dar personalidade e leveza ao que pode ser culpabilizante.</a:t>
            </a:r>
            <a:endParaRPr lang="en-US" sz="1150" dirty="0"/>
          </a:p>
        </p:txBody>
      </p:sp>
      <p:sp>
        <p:nvSpPr>
          <p:cNvPr id="29" name="Etiqueta"/>
          <p:cNvSpPr/>
          <p:nvPr/>
        </p:nvSpPr>
        <p:spPr>
          <a:xfrm>
            <a:off x="6766560" y="4078224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766560" y="4078224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Antes: Plano Treino</a:t>
            </a:r>
            <a:endParaRPr lang="en-US" sz="1100" dirty="0"/>
          </a:p>
        </p:txBody>
      </p:sp>
      <p:sp>
        <p:nvSpPr>
          <p:cNvPr id="31" name="Etiqueta"/>
          <p:cNvSpPr/>
          <p:nvPr/>
        </p:nvSpPr>
        <p:spPr>
          <a:xfrm>
            <a:off x="6766560" y="4471416"/>
            <a:ext cx="4572000" cy="310896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766560" y="447141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Depois: Just Butts (NIJB)</a:t>
            </a:r>
            <a:endParaRPr lang="en-US" sz="1100" dirty="0"/>
          </a:p>
        </p:txBody>
      </p:sp>
      <p:sp>
        <p:nvSpPr>
          <p:cNvPr id="33" name="Decisão"/>
          <p:cNvSpPr/>
          <p:nvPr/>
        </p:nvSpPr>
        <p:spPr>
          <a:xfrm>
            <a:off x="640080" y="5065776"/>
            <a:ext cx="10881360" cy="1051560"/>
          </a:xfrm>
          <a:prstGeom prst="roundRect">
            <a:avLst>
              <a:gd name="adj" fmla="val 1913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4" name="Ícone"/>
          <p:cNvSpPr/>
          <p:nvPr/>
        </p:nvSpPr>
        <p:spPr>
          <a:xfrm>
            <a:off x="868680" y="5294376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35" name="Image 3" descr="us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39" y="5425135"/>
            <a:ext cx="332842" cy="332842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1691640" y="51572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Perfil como última aba</a:t>
            </a:r>
            <a:endParaRPr lang="en-US" sz="1400" dirty="0"/>
          </a:p>
        </p:txBody>
      </p:sp>
      <p:sp>
        <p:nvSpPr>
          <p:cNvPr id="37" name="Text 31"/>
          <p:cNvSpPr txBox="1"/>
          <p:nvPr/>
        </p:nvSpPr>
        <p:spPr>
          <a:xfrm>
            <a:off x="1691640" y="552297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dados pessoais são secundários ao treino.</a:t>
            </a:r>
            <a:endParaRPr lang="en-US" sz="1150" dirty="0"/>
          </a:p>
        </p:txBody>
      </p:sp>
      <p:sp>
        <p:nvSpPr>
          <p:cNvPr id="38" name="Etiqueta"/>
          <p:cNvSpPr/>
          <p:nvPr/>
        </p:nvSpPr>
        <p:spPr>
          <a:xfrm>
            <a:off x="6766560" y="5248656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6766560" y="524865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Antes: Perfil em 3.º lugar</a:t>
            </a:r>
            <a:endParaRPr lang="en-US" sz="1100" dirty="0"/>
          </a:p>
        </p:txBody>
      </p:sp>
      <p:sp>
        <p:nvSpPr>
          <p:cNvPr id="40" name="Etiqueta"/>
          <p:cNvSpPr/>
          <p:nvPr/>
        </p:nvSpPr>
        <p:spPr>
          <a:xfrm>
            <a:off x="6766560" y="5641848"/>
            <a:ext cx="4572000" cy="310896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6766560" y="564184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Depois: Perfil em último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DECISÕES DE UX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decisão teve uma razão (2/2)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36</a:t>
            </a:r>
            <a:endParaRPr lang="en-US" sz="1000" dirty="0"/>
          </a:p>
        </p:txBody>
      </p:sp>
      <p:sp>
        <p:nvSpPr>
          <p:cNvPr id="6" name="Decisão"/>
          <p:cNvSpPr/>
          <p:nvPr/>
        </p:nvSpPr>
        <p:spPr>
          <a:xfrm>
            <a:off x="640080" y="1554480"/>
            <a:ext cx="10881360" cy="1051560"/>
          </a:xfrm>
          <a:prstGeom prst="roundRect">
            <a:avLst>
              <a:gd name="adj" fmla="val 1913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Ícone"/>
          <p:cNvSpPr/>
          <p:nvPr/>
        </p:nvSpPr>
        <p:spPr>
          <a:xfrm>
            <a:off x="868680" y="178308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8" name="Image 0" descr="tre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439" y="1913839"/>
            <a:ext cx="332842" cy="33284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91640" y="1645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Donut por parte do corpo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691640" y="20116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Mostrar o equilíbrio do treino de forma visual, a seguir ao calendário.</a:t>
            </a:r>
            <a:endParaRPr lang="en-US" sz="1150" dirty="0"/>
          </a:p>
        </p:txBody>
      </p:sp>
      <p:sp>
        <p:nvSpPr>
          <p:cNvPr id="11" name="Etiqueta"/>
          <p:cNvSpPr/>
          <p:nvPr/>
        </p:nvSpPr>
        <p:spPr>
          <a:xfrm>
            <a:off x="6766560" y="1737360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66560" y="173736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Antes: Sem gráfico</a:t>
            </a:r>
            <a:endParaRPr lang="en-US" sz="1100" dirty="0"/>
          </a:p>
        </p:txBody>
      </p:sp>
      <p:sp>
        <p:nvSpPr>
          <p:cNvPr id="13" name="Etiqueta"/>
          <p:cNvSpPr/>
          <p:nvPr/>
        </p:nvSpPr>
        <p:spPr>
          <a:xfrm>
            <a:off x="6766560" y="2130552"/>
            <a:ext cx="4023360" cy="310896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66560" y="213055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Depois: Donut com a % de exercícios</a:t>
            </a:r>
            <a:endParaRPr lang="en-US" sz="1100" dirty="0"/>
          </a:p>
        </p:txBody>
      </p:sp>
      <p:sp>
        <p:nvSpPr>
          <p:cNvPr id="15" name="Decisão"/>
          <p:cNvSpPr/>
          <p:nvPr/>
        </p:nvSpPr>
        <p:spPr>
          <a:xfrm>
            <a:off x="640080" y="2724912"/>
            <a:ext cx="10881360" cy="1051560"/>
          </a:xfrm>
          <a:prstGeom prst="roundRect">
            <a:avLst>
              <a:gd name="adj" fmla="val 1913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6" name="Ícone"/>
          <p:cNvSpPr/>
          <p:nvPr/>
        </p:nvSpPr>
        <p:spPr>
          <a:xfrm>
            <a:off x="868680" y="2953512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17" name="Image 1" descr="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439" y="3084271"/>
            <a:ext cx="332842" cy="33284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691640" y="28163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exercício conta uma vez por dia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1691640" y="318211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contagem tem de bater com a perceção da utilizadora.</a:t>
            </a:r>
            <a:endParaRPr lang="en-US" sz="1150" dirty="0"/>
          </a:p>
        </p:txBody>
      </p:sp>
      <p:sp>
        <p:nvSpPr>
          <p:cNvPr id="20" name="Etiqueta"/>
          <p:cNvSpPr/>
          <p:nvPr/>
        </p:nvSpPr>
        <p:spPr>
          <a:xfrm>
            <a:off x="6766560" y="2907792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766560" y="290779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Antes: 3 exercícios contados</a:t>
            </a:r>
            <a:endParaRPr lang="en-US" sz="1100" dirty="0"/>
          </a:p>
        </p:txBody>
      </p:sp>
      <p:sp>
        <p:nvSpPr>
          <p:cNvPr id="22" name="Etiqueta"/>
          <p:cNvSpPr/>
          <p:nvPr/>
        </p:nvSpPr>
        <p:spPr>
          <a:xfrm>
            <a:off x="6766560" y="3300984"/>
            <a:ext cx="4023360" cy="310896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766560" y="3300984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Depois: 2 exercícios (corrigido)</a:t>
            </a:r>
            <a:endParaRPr lang="en-US" sz="1100" dirty="0"/>
          </a:p>
        </p:txBody>
      </p:sp>
      <p:sp>
        <p:nvSpPr>
          <p:cNvPr id="24" name="Decisão"/>
          <p:cNvSpPr/>
          <p:nvPr/>
        </p:nvSpPr>
        <p:spPr>
          <a:xfrm>
            <a:off x="640080" y="3895344"/>
            <a:ext cx="10881360" cy="1051560"/>
          </a:xfrm>
          <a:prstGeom prst="roundRect">
            <a:avLst>
              <a:gd name="adj" fmla="val 1913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5" name="Ícone"/>
          <p:cNvSpPr/>
          <p:nvPr/>
        </p:nvSpPr>
        <p:spPr>
          <a:xfrm>
            <a:off x="868680" y="4123944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26" name="Image 2" descr="min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439" y="4254703"/>
            <a:ext cx="332842" cy="332842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1691640" y="398678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Donut sem número no centro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1691640" y="4352544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Menos ruído: o gráfico já diz o essencial.</a:t>
            </a:r>
            <a:endParaRPr lang="en-US" sz="1150" dirty="0"/>
          </a:p>
        </p:txBody>
      </p:sp>
      <p:sp>
        <p:nvSpPr>
          <p:cNvPr id="29" name="Etiqueta"/>
          <p:cNvSpPr/>
          <p:nvPr/>
        </p:nvSpPr>
        <p:spPr>
          <a:xfrm>
            <a:off x="6766560" y="4078224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766560" y="4078224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Antes: Número no centro</a:t>
            </a:r>
            <a:endParaRPr lang="en-US" sz="1100" dirty="0"/>
          </a:p>
        </p:txBody>
      </p:sp>
      <p:sp>
        <p:nvSpPr>
          <p:cNvPr id="31" name="Etiqueta"/>
          <p:cNvSpPr/>
          <p:nvPr/>
        </p:nvSpPr>
        <p:spPr>
          <a:xfrm>
            <a:off x="6766560" y="4471416"/>
            <a:ext cx="4023360" cy="310896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766560" y="447141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Depois: Centro limpo</a:t>
            </a:r>
            <a:endParaRPr lang="en-US" sz="1100" dirty="0"/>
          </a:p>
        </p:txBody>
      </p:sp>
      <p:sp>
        <p:nvSpPr>
          <p:cNvPr id="33" name="Decisão"/>
          <p:cNvSpPr/>
          <p:nvPr/>
        </p:nvSpPr>
        <p:spPr>
          <a:xfrm>
            <a:off x="640080" y="5065776"/>
            <a:ext cx="10881360" cy="1051560"/>
          </a:xfrm>
          <a:prstGeom prst="roundRect">
            <a:avLst>
              <a:gd name="adj" fmla="val 1913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4" name="Ícone"/>
          <p:cNvSpPr/>
          <p:nvPr/>
        </p:nvSpPr>
        <p:spPr>
          <a:xfrm>
            <a:off x="868680" y="5294376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35" name="Image 3" descr="dropl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39" y="5425135"/>
            <a:ext cx="332842" cy="332842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1691640" y="51572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Ciclo menstrual no Progresso</a:t>
            </a:r>
            <a:endParaRPr lang="en-US" sz="1400" dirty="0"/>
          </a:p>
        </p:txBody>
      </p:sp>
      <p:sp>
        <p:nvSpPr>
          <p:cNvPr id="37" name="Text 31"/>
          <p:cNvSpPr txBox="1"/>
          <p:nvPr/>
        </p:nvSpPr>
        <p:spPr>
          <a:xfrm>
            <a:off x="1691640" y="552297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Ligar o treino à energia ao longo do mês, com sugestões por fase.</a:t>
            </a:r>
            <a:endParaRPr lang="en-US" sz="1150" dirty="0"/>
          </a:p>
        </p:txBody>
      </p:sp>
      <p:sp>
        <p:nvSpPr>
          <p:cNvPr id="38" name="Etiqueta"/>
          <p:cNvSpPr/>
          <p:nvPr/>
        </p:nvSpPr>
        <p:spPr>
          <a:xfrm>
            <a:off x="6766560" y="5248656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6766560" y="524865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Antes: Sem informação do ciclo</a:t>
            </a:r>
            <a:endParaRPr lang="en-US" sz="1100" dirty="0"/>
          </a:p>
        </p:txBody>
      </p:sp>
      <p:sp>
        <p:nvSpPr>
          <p:cNvPr id="40" name="Etiqueta"/>
          <p:cNvSpPr/>
          <p:nvPr/>
        </p:nvSpPr>
        <p:spPr>
          <a:xfrm>
            <a:off x="6766560" y="5641848"/>
            <a:ext cx="4023360" cy="310896"/>
          </a:xfrm>
          <a:prstGeom prst="roundRect">
            <a:avLst>
              <a:gd name="adj" fmla="val 5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6766560" y="564184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E5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Depois: Calendário por fases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DECISÕES DE UX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Novas decisões desta versão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37</a:t>
            </a:r>
            <a:endParaRPr lang="en-US" sz="1000" dirty="0"/>
          </a:p>
        </p:txBody>
      </p:sp>
      <p:sp>
        <p:nvSpPr>
          <p:cNvPr id="6" name="Decisão"/>
          <p:cNvSpPr/>
          <p:nvPr/>
        </p:nvSpPr>
        <p:spPr>
          <a:xfrm>
            <a:off x="640080" y="1554480"/>
            <a:ext cx="10881360" cy="1051560"/>
          </a:xfrm>
          <a:prstGeom prst="roundRect">
            <a:avLst>
              <a:gd name="adj" fmla="val 1913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Ícone"/>
          <p:cNvSpPr/>
          <p:nvPr/>
        </p:nvSpPr>
        <p:spPr>
          <a:xfrm>
            <a:off x="868680" y="1783080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pic>
        <p:nvPicPr>
          <p:cNvPr id="8" name="Image 0" descr="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439" y="1913839"/>
            <a:ext cx="332842" cy="33284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737360" y="164592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Criar conta por convite, em três passos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737360" y="2011680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Deixar de depender de mim para cada conta sem abrir a app ao público. Passos curtos reduzem o cansaço e o código mantém a exclusividade.</a:t>
            </a:r>
            <a:endParaRPr lang="en-US" sz="1200" dirty="0"/>
          </a:p>
        </p:txBody>
      </p:sp>
      <p:sp>
        <p:nvSpPr>
          <p:cNvPr id="11" name="Decisão"/>
          <p:cNvSpPr/>
          <p:nvPr/>
        </p:nvSpPr>
        <p:spPr>
          <a:xfrm>
            <a:off x="640080" y="2724912"/>
            <a:ext cx="10881360" cy="1051560"/>
          </a:xfrm>
          <a:prstGeom prst="roundRect">
            <a:avLst>
              <a:gd name="adj" fmla="val 1913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2" name="Ícone"/>
          <p:cNvSpPr/>
          <p:nvPr/>
        </p:nvSpPr>
        <p:spPr>
          <a:xfrm>
            <a:off x="868680" y="2953512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13" name="Image 1" descr="targ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439" y="3084271"/>
            <a:ext cx="332842" cy="33284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737360" y="281635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Objetivo escolhido pela pessoa, separado do treino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737360" y="3182112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pessoa quer sentir que a app é para ela, mas o treino base é igual para todas para não multiplicar planos.</a:t>
            </a:r>
            <a:endParaRPr lang="en-US" sz="1200" dirty="0"/>
          </a:p>
        </p:txBody>
      </p:sp>
      <p:sp>
        <p:nvSpPr>
          <p:cNvPr id="16" name="Decisão"/>
          <p:cNvSpPr/>
          <p:nvPr/>
        </p:nvSpPr>
        <p:spPr>
          <a:xfrm>
            <a:off x="640080" y="3895344"/>
            <a:ext cx="10881360" cy="1051560"/>
          </a:xfrm>
          <a:prstGeom prst="roundRect">
            <a:avLst>
              <a:gd name="adj" fmla="val 1913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7" name="Ícone"/>
          <p:cNvSpPr/>
          <p:nvPr/>
        </p:nvSpPr>
        <p:spPr>
          <a:xfrm>
            <a:off x="868680" y="4123944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pic>
        <p:nvPicPr>
          <p:cNvPr id="18" name="Image 2" descr="tim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439" y="4254703"/>
            <a:ext cx="332842" cy="33284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737360" y="3986784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Temporizador com aviso em segundo plano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1737360" y="4352544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teste mostrou que fecham a app com o temporizador a contar e perdem o fim do descanso.</a:t>
            </a:r>
            <a:endParaRPr lang="en-US" sz="1200" dirty="0"/>
          </a:p>
        </p:txBody>
      </p:sp>
      <p:sp>
        <p:nvSpPr>
          <p:cNvPr id="21" name="Decisão"/>
          <p:cNvSpPr/>
          <p:nvPr/>
        </p:nvSpPr>
        <p:spPr>
          <a:xfrm>
            <a:off x="640080" y="5065776"/>
            <a:ext cx="10881360" cy="1051560"/>
          </a:xfrm>
          <a:prstGeom prst="roundRect">
            <a:avLst>
              <a:gd name="adj" fmla="val 1913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2" name="Ícone"/>
          <p:cNvSpPr/>
          <p:nvPr/>
        </p:nvSpPr>
        <p:spPr>
          <a:xfrm>
            <a:off x="868680" y="5294376"/>
            <a:ext cx="594360" cy="59436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23" name="Image 3" descr="inf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39" y="5425135"/>
            <a:ext cx="332842" cy="33284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737360" y="5157216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Mais contraste, mantendo a doçura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1737360" y="5522976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Acessibilidade sem trocar a identidade: só mudámos as cores do texto e dos botões, não os fundos pastel.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PROCESSO E A IA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meu papel e o da IA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</a:t>
            </a:r>
            <a:endParaRPr lang="en-US" sz="1000" dirty="0"/>
          </a:p>
        </p:txBody>
      </p:sp>
      <p:sp>
        <p:nvSpPr>
          <p:cNvPr id="6" name="Eu"/>
          <p:cNvSpPr/>
          <p:nvPr/>
        </p:nvSpPr>
        <p:spPr>
          <a:xfrm>
            <a:off x="640080" y="1554480"/>
            <a:ext cx="6126480" cy="4297680"/>
          </a:xfrm>
          <a:prstGeom prst="roundRect">
            <a:avLst>
              <a:gd name="adj" fmla="val 4681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Ícone"/>
          <p:cNvSpPr/>
          <p:nvPr/>
        </p:nvSpPr>
        <p:spPr>
          <a:xfrm>
            <a:off x="914400" y="178308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pic>
        <p:nvPicPr>
          <p:cNvPr id="8" name="Image 0" descr="us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218" y="1923898"/>
            <a:ext cx="358445" cy="35844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78308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fiz eu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2697480"/>
            <a:ext cx="55778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Identifiquei o problema e as dificuldades de quem treina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Defini objetivos, funcionalidades, marca e tom de voz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Tomei as decisões de UX, de conteúdo e de marketing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Testei cada versão no telemóvel e rejeitei ideias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Fiz o teste de usabilidade e recolhi feedback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Geri o projeto: base de dados, publicação e instalação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Defini a regra: o treino de uma pessoa nunca interfere com o das outras</a:t>
            </a:r>
            <a:endParaRPr lang="en-US" sz="1350" dirty="0"/>
          </a:p>
        </p:txBody>
      </p:sp>
      <p:sp>
        <p:nvSpPr>
          <p:cNvPr id="11" name="IA"/>
          <p:cNvSpPr/>
          <p:nvPr/>
        </p:nvSpPr>
        <p:spPr>
          <a:xfrm>
            <a:off x="7040880" y="1554480"/>
            <a:ext cx="4480560" cy="4297680"/>
          </a:xfrm>
          <a:prstGeom prst="roundRect">
            <a:avLst>
              <a:gd name="adj" fmla="val 4681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2" name="Ícone"/>
          <p:cNvSpPr/>
          <p:nvPr/>
        </p:nvSpPr>
        <p:spPr>
          <a:xfrm>
            <a:off x="7315200" y="1783080"/>
            <a:ext cx="640080" cy="64008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13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6018" y="1923898"/>
            <a:ext cx="358445" cy="35844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8183880" y="1965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fez a IA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7315200" y="26974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Escreveu e testou o código (HTML, CSS e JavaScript) e a base de dados</a:t>
            </a:r>
            <a:endParaRPr lang="en-US" sz="13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Fez a auditoria automática de contraste e aplicou as correções</a:t>
            </a:r>
            <a:endParaRPr lang="en-US" sz="13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Propôs soluções quando lhe pedi</a:t>
            </a:r>
            <a:endParaRPr lang="en-US" sz="13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Eu escolhi e corrigi o rumo</a:t>
            </a:r>
            <a:endParaRPr lang="en-US" sz="1350" dirty="0"/>
          </a:p>
        </p:txBody>
      </p:sp>
      <p:sp>
        <p:nvSpPr>
          <p:cNvPr id="16" name="Text 12"/>
          <p:cNvSpPr txBox="1"/>
          <p:nvPr/>
        </p:nvSpPr>
        <p:spPr>
          <a:xfrm>
            <a:off x="640080" y="594360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experiência em código, o meu valor esteve em perguntar o que as utilizadoras precisam, decidir o que fica e o que sai, e perceber quando algo não está bem.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IMPACTO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Resultados iniciais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</a:t>
            </a:r>
            <a:endParaRPr lang="en-US" sz="1000" dirty="0"/>
          </a:p>
        </p:txBody>
      </p:sp>
      <p:sp>
        <p:nvSpPr>
          <p:cNvPr id="6" name="Resultado"/>
          <p:cNvSpPr/>
          <p:nvPr/>
        </p:nvSpPr>
        <p:spPr>
          <a:xfrm>
            <a:off x="640080" y="1645920"/>
            <a:ext cx="2560320" cy="3108960"/>
          </a:xfrm>
          <a:prstGeom prst="roundRect">
            <a:avLst>
              <a:gd name="adj" fmla="val 785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Ícone"/>
          <p:cNvSpPr/>
          <p:nvPr/>
        </p:nvSpPr>
        <p:spPr>
          <a:xfrm>
            <a:off x="868680" y="1874520"/>
            <a:ext cx="685800" cy="685800"/>
          </a:xfrm>
          <a:prstGeom prst="roundRect">
            <a:avLst>
              <a:gd name="adj" fmla="val 3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pic>
        <p:nvPicPr>
          <p:cNvPr id="8" name="Image 0" descr="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" y="2025396"/>
            <a:ext cx="384048" cy="384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68680" y="27889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Organização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38328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treinos já estão planeados.</a:t>
            </a:r>
            <a:endParaRPr lang="en-US" sz="1400" dirty="0"/>
          </a:p>
        </p:txBody>
      </p:sp>
      <p:sp>
        <p:nvSpPr>
          <p:cNvPr id="11" name="Resultado"/>
          <p:cNvSpPr/>
          <p:nvPr/>
        </p:nvSpPr>
        <p:spPr>
          <a:xfrm>
            <a:off x="3383280" y="1645920"/>
            <a:ext cx="2560320" cy="3108960"/>
          </a:xfrm>
          <a:prstGeom prst="roundRect">
            <a:avLst>
              <a:gd name="adj" fmla="val 785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2" name="Ícone"/>
          <p:cNvSpPr/>
          <p:nvPr/>
        </p:nvSpPr>
        <p:spPr>
          <a:xfrm>
            <a:off x="3611880" y="1874520"/>
            <a:ext cx="685800" cy="68580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13" name="Image 1" descr="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2756" y="2025396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611880" y="27889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Eficiência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3611880" y="338328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Sabem qual é o exercício seguinte e que carga usar.</a:t>
            </a:r>
            <a:endParaRPr lang="en-US" sz="1400" dirty="0"/>
          </a:p>
        </p:txBody>
      </p:sp>
      <p:sp>
        <p:nvSpPr>
          <p:cNvPr id="16" name="Resultado"/>
          <p:cNvSpPr/>
          <p:nvPr/>
        </p:nvSpPr>
        <p:spPr>
          <a:xfrm>
            <a:off x="6126480" y="1645920"/>
            <a:ext cx="2560320" cy="3108960"/>
          </a:xfrm>
          <a:prstGeom prst="roundRect">
            <a:avLst>
              <a:gd name="adj" fmla="val 785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7" name="Ícone"/>
          <p:cNvSpPr/>
          <p:nvPr/>
        </p:nvSpPr>
        <p:spPr>
          <a:xfrm>
            <a:off x="6355080" y="1874520"/>
            <a:ext cx="685800" cy="685800"/>
          </a:xfrm>
          <a:prstGeom prst="roundRect">
            <a:avLst>
              <a:gd name="adj" fmla="val 30000"/>
            </a:avLst>
          </a:prstGeom>
          <a:solidFill>
            <a:srgbClr val="FBDCC4"/>
          </a:solidFill>
          <a:ln w="12700">
            <a:solidFill>
              <a:srgbClr val="FBDCC4">
                <a:alpha val="0"/>
              </a:srgbClr>
            </a:solidFill>
            <a:prstDash val="solid"/>
          </a:ln>
        </p:spPr>
      </p:sp>
      <p:pic>
        <p:nvPicPr>
          <p:cNvPr id="18" name="Image 2" descr="tren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5956" y="2025396"/>
            <a:ext cx="384048" cy="38404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355080" y="27889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Motivação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6355080" y="338328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aba Progresso ajuda a treinar com mais propósito.</a:t>
            </a:r>
            <a:endParaRPr lang="en-US" sz="1400" dirty="0"/>
          </a:p>
        </p:txBody>
      </p:sp>
      <p:sp>
        <p:nvSpPr>
          <p:cNvPr id="21" name="Resultado"/>
          <p:cNvSpPr/>
          <p:nvPr/>
        </p:nvSpPr>
        <p:spPr>
          <a:xfrm>
            <a:off x="8869680" y="1645920"/>
            <a:ext cx="2560320" cy="3108960"/>
          </a:xfrm>
          <a:prstGeom prst="roundRect">
            <a:avLst>
              <a:gd name="adj" fmla="val 7857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2" name="Ícone"/>
          <p:cNvSpPr/>
          <p:nvPr/>
        </p:nvSpPr>
        <p:spPr>
          <a:xfrm>
            <a:off x="9098280" y="1874520"/>
            <a:ext cx="685800" cy="685800"/>
          </a:xfrm>
          <a:prstGeom prst="roundRect">
            <a:avLst>
              <a:gd name="adj" fmla="val 3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pic>
        <p:nvPicPr>
          <p:cNvPr id="23" name="Image 3" descr="sparkl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9156" y="2025396"/>
            <a:ext cx="384048" cy="38404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098280" y="27889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Experiência visual</a:t>
            </a:r>
            <a:endParaRPr lang="en-US" sz="1700" dirty="0"/>
          </a:p>
        </p:txBody>
      </p:sp>
      <p:sp>
        <p:nvSpPr>
          <p:cNvPr id="25" name="Text 19"/>
          <p:cNvSpPr txBox="1"/>
          <p:nvPr/>
        </p:nvSpPr>
        <p:spPr>
          <a:xfrm>
            <a:off x="9098280" y="338328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estética foi referida como fator positivo.</a:t>
            </a:r>
            <a:endParaRPr lang="en-US" sz="1400" dirty="0"/>
          </a:p>
        </p:txBody>
      </p:sp>
      <p:sp>
        <p:nvSpPr>
          <p:cNvPr id="26" name="Nota"/>
          <p:cNvSpPr/>
          <p:nvPr/>
        </p:nvSpPr>
        <p:spPr>
          <a:xfrm>
            <a:off x="640080" y="5029200"/>
            <a:ext cx="10881360" cy="1097280"/>
          </a:xfrm>
          <a:prstGeom prst="roundRect">
            <a:avLst>
              <a:gd name="adj" fmla="val 18333"/>
            </a:avLst>
          </a:prstGeom>
          <a:solidFill>
            <a:srgbClr val="FBDCC4">
              <a:alpha val="65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pic>
        <p:nvPicPr>
          <p:cNvPr id="27" name="Image 4" descr="inf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5349240"/>
            <a:ext cx="457200" cy="4572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45920" y="521208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São resultados qualitativos de cinco utilizadoras. Não são um estudo formal nem prova de que a app serve a todas.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IMPACTO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correu mal e o que aprendi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</a:t>
            </a:r>
            <a:endParaRPr lang="en-US" sz="1000" dirty="0"/>
          </a:p>
        </p:txBody>
      </p:sp>
      <p:sp>
        <p:nvSpPr>
          <p:cNvPr id="6" name="Aprendizagem"/>
          <p:cNvSpPr/>
          <p:nvPr/>
        </p:nvSpPr>
        <p:spPr>
          <a:xfrm>
            <a:off x="640080" y="1463040"/>
            <a:ext cx="10881360" cy="713232"/>
          </a:xfrm>
          <a:prstGeom prst="roundRect">
            <a:avLst>
              <a:gd name="adj" fmla="val 28205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7" name="Ícone"/>
          <p:cNvSpPr/>
          <p:nvPr/>
        </p:nvSpPr>
        <p:spPr>
          <a:xfrm>
            <a:off x="822960" y="1554480"/>
            <a:ext cx="530352" cy="530352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8" name="Image 0" descr="penc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637" y="1671157"/>
            <a:ext cx="296997" cy="296997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54480" y="149961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Desenhos doodle em cada exercício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4846320" y="1499616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ideia foi minha, a IA desenhou e eu não gostei. Retirámos tudo. Aprendi a validar o estilo com amostras antes de produzir.</a:t>
            </a:r>
            <a:endParaRPr lang="en-US" sz="1150" dirty="0"/>
          </a:p>
        </p:txBody>
      </p:sp>
      <p:sp>
        <p:nvSpPr>
          <p:cNvPr id="11" name="Aprendizagem"/>
          <p:cNvSpPr/>
          <p:nvPr/>
        </p:nvSpPr>
        <p:spPr>
          <a:xfrm>
            <a:off x="640080" y="2267712"/>
            <a:ext cx="10881360" cy="713232"/>
          </a:xfrm>
          <a:prstGeom prst="roundRect">
            <a:avLst>
              <a:gd name="adj" fmla="val 28205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2" name="Ícone"/>
          <p:cNvSpPr/>
          <p:nvPr/>
        </p:nvSpPr>
        <p:spPr>
          <a:xfrm>
            <a:off x="822960" y="2359152"/>
            <a:ext cx="530352" cy="530352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13" name="Image 1" descr="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637" y="2475829"/>
            <a:ext cx="296997" cy="29699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554480" y="23042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contagem do donut</a:t>
            </a:r>
            <a:endParaRPr lang="en-US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4846320" y="2304288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Contava 3 exercícios de tríceps onde eram 2. O número tem de bater com a realidade de quem o lê.</a:t>
            </a:r>
            <a:endParaRPr lang="en-US" sz="1150" dirty="0"/>
          </a:p>
        </p:txBody>
      </p:sp>
      <p:sp>
        <p:nvSpPr>
          <p:cNvPr id="16" name="Aprendizagem"/>
          <p:cNvSpPr/>
          <p:nvPr/>
        </p:nvSpPr>
        <p:spPr>
          <a:xfrm>
            <a:off x="640080" y="3072384"/>
            <a:ext cx="10881360" cy="713232"/>
          </a:xfrm>
          <a:prstGeom prst="roundRect">
            <a:avLst>
              <a:gd name="adj" fmla="val 28205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7" name="Ícone"/>
          <p:cNvSpPr/>
          <p:nvPr/>
        </p:nvSpPr>
        <p:spPr>
          <a:xfrm>
            <a:off x="822960" y="3163824"/>
            <a:ext cx="530352" cy="530352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18" name="Image 2" descr="mo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37" y="3280501"/>
            <a:ext cx="296997" cy="29699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554480" y="3108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aba do Sono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4846320" y="3108960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Saiu para dar lugar ao Perfil. Aprendi a questionar o que cada funcionalidade acrescenta ao objetivo do produto.</a:t>
            </a:r>
            <a:endParaRPr lang="en-US" sz="1150" dirty="0"/>
          </a:p>
        </p:txBody>
      </p:sp>
      <p:sp>
        <p:nvSpPr>
          <p:cNvPr id="21" name="Aprendizagem"/>
          <p:cNvSpPr/>
          <p:nvPr/>
        </p:nvSpPr>
        <p:spPr>
          <a:xfrm>
            <a:off x="640080" y="3877056"/>
            <a:ext cx="10881360" cy="713232"/>
          </a:xfrm>
          <a:prstGeom prst="roundRect">
            <a:avLst>
              <a:gd name="adj" fmla="val 28205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2" name="Ícone"/>
          <p:cNvSpPr/>
          <p:nvPr/>
        </p:nvSpPr>
        <p:spPr>
          <a:xfrm>
            <a:off x="822960" y="3968496"/>
            <a:ext cx="530352" cy="530352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23" name="Image 3" descr="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9637" y="4085173"/>
            <a:ext cx="296997" cy="296997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554480" y="391363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Treinos misturados</a:t>
            </a:r>
            <a:endParaRPr lang="en-US" sz="1250" dirty="0"/>
          </a:p>
        </p:txBody>
      </p:sp>
      <p:sp>
        <p:nvSpPr>
          <p:cNvPr id="25" name="Text 19"/>
          <p:cNvSpPr txBox="1"/>
          <p:nvPr/>
        </p:nvSpPr>
        <p:spPr>
          <a:xfrm>
            <a:off x="4846320" y="3913632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regra de isolamento obrigou a uma estrutura separada para cada tipo de plano.</a:t>
            </a:r>
            <a:endParaRPr lang="en-US" sz="1150" dirty="0"/>
          </a:p>
        </p:txBody>
      </p:sp>
      <p:sp>
        <p:nvSpPr>
          <p:cNvPr id="26" name="Aprendizagem"/>
          <p:cNvSpPr/>
          <p:nvPr/>
        </p:nvSpPr>
        <p:spPr>
          <a:xfrm>
            <a:off x="640080" y="4681728"/>
            <a:ext cx="10881360" cy="713232"/>
          </a:xfrm>
          <a:prstGeom prst="roundRect">
            <a:avLst>
              <a:gd name="adj" fmla="val 28205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7" name="Ícone"/>
          <p:cNvSpPr/>
          <p:nvPr/>
        </p:nvSpPr>
        <p:spPr>
          <a:xfrm>
            <a:off x="822960" y="4773168"/>
            <a:ext cx="530352" cy="530352"/>
          </a:xfrm>
          <a:prstGeom prst="roundRect">
            <a:avLst>
              <a:gd name="adj" fmla="val 30000"/>
            </a:avLst>
          </a:prstGeom>
          <a:solidFill>
            <a:srgbClr val="F3EFFA"/>
          </a:solidFill>
          <a:ln w="12700">
            <a:solidFill>
              <a:srgbClr val="F3EFFA">
                <a:alpha val="0"/>
              </a:srgbClr>
            </a:solidFill>
            <a:prstDash val="solid"/>
          </a:ln>
        </p:spPr>
      </p:sp>
      <p:pic>
        <p:nvPicPr>
          <p:cNvPr id="28" name="Image 4" descr="activit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9637" y="4889845"/>
            <a:ext cx="296997" cy="296997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554480" y="471830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Observar vale mais do que supor</a:t>
            </a:r>
            <a:endParaRPr lang="en-US" sz="1250" dirty="0"/>
          </a:p>
        </p:txBody>
      </p:sp>
      <p:sp>
        <p:nvSpPr>
          <p:cNvPr id="30" name="Text 23"/>
          <p:cNvSpPr txBox="1"/>
          <p:nvPr/>
        </p:nvSpPr>
        <p:spPr>
          <a:xfrm>
            <a:off x="4846320" y="4718304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teste mostrou o que eu não previa: fecham a app com o temporizador e hesitam nos alongamentos.</a:t>
            </a:r>
            <a:endParaRPr lang="en-US" sz="1150" dirty="0"/>
          </a:p>
        </p:txBody>
      </p:sp>
      <p:sp>
        <p:nvSpPr>
          <p:cNvPr id="31" name="Aprendizagem"/>
          <p:cNvSpPr/>
          <p:nvPr/>
        </p:nvSpPr>
        <p:spPr>
          <a:xfrm>
            <a:off x="640080" y="5486400"/>
            <a:ext cx="10881360" cy="713232"/>
          </a:xfrm>
          <a:prstGeom prst="roundRect">
            <a:avLst>
              <a:gd name="adj" fmla="val 28205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2" name="Ícone"/>
          <p:cNvSpPr/>
          <p:nvPr/>
        </p:nvSpPr>
        <p:spPr>
          <a:xfrm>
            <a:off x="822960" y="5577840"/>
            <a:ext cx="530352" cy="530352"/>
          </a:xfrm>
          <a:prstGeom prst="roundRect">
            <a:avLst>
              <a:gd name="adj" fmla="val 30000"/>
            </a:avLst>
          </a:prstGeom>
          <a:solidFill>
            <a:srgbClr val="C6E8DC"/>
          </a:solidFill>
          <a:ln w="12700">
            <a:solidFill>
              <a:srgbClr val="C6E8DC">
                <a:alpha val="0"/>
              </a:srgbClr>
            </a:solidFill>
            <a:prstDash val="solid"/>
          </a:ln>
        </p:spPr>
      </p:sp>
      <p:pic>
        <p:nvPicPr>
          <p:cNvPr id="33" name="Image 5" descr="sparkl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9637" y="5694517"/>
            <a:ext cx="296997" cy="296997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1554480" y="552297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Lição geral</a:t>
            </a:r>
            <a:endParaRPr lang="en-US" sz="1250" dirty="0"/>
          </a:p>
        </p:txBody>
      </p:sp>
      <p:sp>
        <p:nvSpPr>
          <p:cNvPr id="35" name="Text 27"/>
          <p:cNvSpPr txBox="1"/>
          <p:nvPr/>
        </p:nvSpPr>
        <p:spPr>
          <a:xfrm>
            <a:off x="4846320" y="5522976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Feedback rápido de quem usa vale mais do que um design bem pensado mas não testado.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AGORA?</a:t>
            </a:r>
            <a:endParaRPr lang="en-US" sz="1200" dirty="0"/>
          </a:p>
        </p:txBody>
      </p:sp>
      <p:sp>
        <p:nvSpPr>
          <p:cNvPr id="3" name="Título"/>
          <p:cNvSpPr txBox="1"/>
          <p:nvPr/>
        </p:nvSpPr>
        <p:spPr>
          <a:xfrm>
            <a:off x="640080" y="640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Limitações e próximos passos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46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NIJB · estudo de caso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6446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</a:t>
            </a:r>
            <a:endParaRPr lang="en-US" sz="1000" dirty="0"/>
          </a:p>
        </p:txBody>
      </p:sp>
      <p:sp>
        <p:nvSpPr>
          <p:cNvPr id="6" name="Limitação"/>
          <p:cNvSpPr/>
          <p:nvPr/>
        </p:nvSpPr>
        <p:spPr>
          <a:xfrm>
            <a:off x="640080" y="1554480"/>
            <a:ext cx="10881360" cy="1188720"/>
          </a:xfrm>
          <a:prstGeom prst="roundRect">
            <a:avLst>
              <a:gd name="adj" fmla="val 16923"/>
            </a:avLst>
          </a:prstGeom>
          <a:solidFill>
            <a:srgbClr val="FBDCC4">
              <a:alpha val="65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pic>
        <p:nvPicPr>
          <p:cNvPr id="7" name="Image 0" descr="al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20240"/>
            <a:ext cx="502920" cy="5029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91640" y="164592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Limitação atual: quem recebe um convite já cria a sua conta, escolhe o objetivo e regista as medidas. O treino é o plano base, igual para todas, e ainda não dá para cada pessoa criar e configurar sozinha os seus planos e sessões.</a:t>
            </a:r>
            <a:endParaRPr lang="en-US" sz="1350" dirty="0"/>
          </a:p>
        </p:txBody>
      </p:sp>
      <p:sp>
        <p:nvSpPr>
          <p:cNvPr id="9" name="Passo"/>
          <p:cNvSpPr/>
          <p:nvPr/>
        </p:nvSpPr>
        <p:spPr>
          <a:xfrm>
            <a:off x="640080" y="3017520"/>
            <a:ext cx="3474720" cy="1463040"/>
          </a:xfrm>
          <a:prstGeom prst="roundRect">
            <a:avLst>
              <a:gd name="adj" fmla="val 1375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0" name="Ícone"/>
          <p:cNvSpPr/>
          <p:nvPr/>
        </p:nvSpPr>
        <p:spPr>
          <a:xfrm>
            <a:off x="822960" y="320040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11" name="Image 1" descr="us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661" y="332110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508760" y="3246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Autonomia no treino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38404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pessoa personaliza o seu plano de treino.</a:t>
            </a:r>
            <a:endParaRPr lang="en-US" sz="1150" dirty="0"/>
          </a:p>
        </p:txBody>
      </p:sp>
      <p:sp>
        <p:nvSpPr>
          <p:cNvPr id="14" name="Passo"/>
          <p:cNvSpPr/>
          <p:nvPr/>
        </p:nvSpPr>
        <p:spPr>
          <a:xfrm>
            <a:off x="4297680" y="3017520"/>
            <a:ext cx="3474720" cy="1463040"/>
          </a:xfrm>
          <a:prstGeom prst="roundRect">
            <a:avLst>
              <a:gd name="adj" fmla="val 1375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15" name="Ícone"/>
          <p:cNvSpPr/>
          <p:nvPr/>
        </p:nvSpPr>
        <p:spPr>
          <a:xfrm>
            <a:off x="4480560" y="320040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16" name="Image 2" descr="pla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1261" y="332110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166360" y="3246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Repetir o teste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4480560" y="38404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pessoas novas, com tarefas simples e medição do tempo.</a:t>
            </a:r>
            <a:endParaRPr lang="en-US" sz="1150" dirty="0"/>
          </a:p>
        </p:txBody>
      </p:sp>
      <p:sp>
        <p:nvSpPr>
          <p:cNvPr id="19" name="Passo"/>
          <p:cNvSpPr/>
          <p:nvPr/>
        </p:nvSpPr>
        <p:spPr>
          <a:xfrm>
            <a:off x="7955280" y="3017520"/>
            <a:ext cx="3474720" cy="1463040"/>
          </a:xfrm>
          <a:prstGeom prst="roundRect">
            <a:avLst>
              <a:gd name="adj" fmla="val 1375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0" name="Ícone"/>
          <p:cNvSpPr/>
          <p:nvPr/>
        </p:nvSpPr>
        <p:spPr>
          <a:xfrm>
            <a:off x="8138160" y="320040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21" name="Image 3" descr="activit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8861" y="3321101"/>
            <a:ext cx="307238" cy="30723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823960" y="3246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Alongamentos e alimentação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8138160" y="38404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Separar aquecimento e alongamentos finais; simplificar a Alimentação.</a:t>
            </a:r>
            <a:endParaRPr lang="en-US" sz="1150" dirty="0"/>
          </a:p>
        </p:txBody>
      </p:sp>
      <p:sp>
        <p:nvSpPr>
          <p:cNvPr id="24" name="Passo"/>
          <p:cNvSpPr/>
          <p:nvPr/>
        </p:nvSpPr>
        <p:spPr>
          <a:xfrm>
            <a:off x="640080" y="4663440"/>
            <a:ext cx="3474720" cy="1463040"/>
          </a:xfrm>
          <a:prstGeom prst="roundRect">
            <a:avLst>
              <a:gd name="adj" fmla="val 1375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25" name="Ícone"/>
          <p:cNvSpPr/>
          <p:nvPr/>
        </p:nvSpPr>
        <p:spPr>
          <a:xfrm>
            <a:off x="822960" y="484632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26" name="Image 4" descr="inf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661" y="4967021"/>
            <a:ext cx="307238" cy="30723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508760" y="48920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Acessibilidade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822960" y="54864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Leitores de ecrã, teclado, daltonismo e tamanho de texto.</a:t>
            </a:r>
            <a:endParaRPr lang="en-US" sz="1150" dirty="0"/>
          </a:p>
        </p:txBody>
      </p:sp>
      <p:sp>
        <p:nvSpPr>
          <p:cNvPr id="29" name="Passo"/>
          <p:cNvSpPr/>
          <p:nvPr/>
        </p:nvSpPr>
        <p:spPr>
          <a:xfrm>
            <a:off x="4297680" y="4663440"/>
            <a:ext cx="3474720" cy="1463040"/>
          </a:xfrm>
          <a:prstGeom prst="roundRect">
            <a:avLst>
              <a:gd name="adj" fmla="val 1375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0" name="Ícone"/>
          <p:cNvSpPr/>
          <p:nvPr/>
        </p:nvSpPr>
        <p:spPr>
          <a:xfrm>
            <a:off x="4480560" y="484632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31" name="Image 5" descr="tim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1261" y="4967021"/>
            <a:ext cx="307238" cy="307238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5166360" y="48920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Validar o temporizador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4480560" y="54864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telemóveis Android e iPhone.</a:t>
            </a:r>
            <a:endParaRPr lang="en-US" sz="1150" dirty="0"/>
          </a:p>
        </p:txBody>
      </p:sp>
      <p:sp>
        <p:nvSpPr>
          <p:cNvPr id="34" name="Passo"/>
          <p:cNvSpPr/>
          <p:nvPr/>
        </p:nvSpPr>
        <p:spPr>
          <a:xfrm>
            <a:off x="7955280" y="4663440"/>
            <a:ext cx="3474720" cy="1463040"/>
          </a:xfrm>
          <a:prstGeom prst="roundRect">
            <a:avLst>
              <a:gd name="adj" fmla="val 13750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5" name="Ícone"/>
          <p:cNvSpPr/>
          <p:nvPr/>
        </p:nvSpPr>
        <p:spPr>
          <a:xfrm>
            <a:off x="8138160" y="484632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pic>
        <p:nvPicPr>
          <p:cNvPr id="36" name="Image 6" descr="sparkle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58861" y="4967021"/>
            <a:ext cx="307238" cy="307238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8823960" y="48920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Marketing</a:t>
            </a:r>
            <a:endParaRPr lang="en-US" sz="1300" dirty="0"/>
          </a:p>
        </p:txBody>
      </p:sp>
      <p:sp>
        <p:nvSpPr>
          <p:cNvPr id="38" name="Text 29"/>
          <p:cNvSpPr txBox="1"/>
          <p:nvPr/>
        </p:nvSpPr>
        <p:spPr>
          <a:xfrm>
            <a:off x="8138160" y="54864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Mensagem de convite, página de apresentação, métricas e texto de privacidade.</a:t>
            </a:r>
            <a:endParaRPr lang="en-US" sz="11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rtão final"/>
          <p:cNvSpPr/>
          <p:nvPr/>
        </p:nvSpPr>
        <p:spPr>
          <a:xfrm>
            <a:off x="2194560" y="1463040"/>
            <a:ext cx="7772400" cy="3840480"/>
          </a:xfrm>
          <a:prstGeom prst="roundRect">
            <a:avLst>
              <a:gd name="adj" fmla="val 9524"/>
            </a:avLst>
          </a:prstGeom>
          <a:solidFill>
            <a:srgbClr val="FFFDFB">
              <a:alpha val="78000"/>
            </a:srgbClr>
          </a:solidFill>
          <a:ln w="12700">
            <a:solidFill>
              <a:srgbClr val="FFFFFF">
                <a:alpha val="90000"/>
              </a:srgbClr>
            </a:solidFill>
            <a:prstDash val="solid"/>
          </a:ln>
          <a:effectLst>
            <a:outerShdw sx="100000" sy="100000" kx="0" ky="0" algn="bl" rotWithShape="0" blurRad="152400" dist="38100" dir="5400000">
              <a:srgbClr val="B5798E">
                <a:alpha val="16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2194560" y="19202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9C5A7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Obrigada!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29260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3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ifs, just good butts</a:t>
            </a:r>
            <a:endParaRPr lang="en-US" sz="2000" dirty="0"/>
          </a:p>
        </p:txBody>
      </p:sp>
      <p:sp>
        <p:nvSpPr>
          <p:cNvPr id="5" name="Etiqueta"/>
          <p:cNvSpPr/>
          <p:nvPr/>
        </p:nvSpPr>
        <p:spPr>
          <a:xfrm>
            <a:off x="3794760" y="3977640"/>
            <a:ext cx="2194560" cy="411480"/>
          </a:xfrm>
          <a:prstGeom prst="roundRect">
            <a:avLst>
              <a:gd name="adj" fmla="val 50000"/>
            </a:avLst>
          </a:prstGeom>
          <a:solidFill>
            <a:srgbClr val="D9CFF0"/>
          </a:solidFill>
          <a:ln w="12700">
            <a:solidFill>
              <a:srgbClr val="D9CFF0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794760" y="3977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A63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Mariana Rodrigues</a:t>
            </a:r>
            <a:endParaRPr lang="en-US" sz="1100" dirty="0"/>
          </a:p>
        </p:txBody>
      </p:sp>
      <p:sp>
        <p:nvSpPr>
          <p:cNvPr id="7" name="Etiqueta"/>
          <p:cNvSpPr/>
          <p:nvPr/>
        </p:nvSpPr>
        <p:spPr>
          <a:xfrm>
            <a:off x="6217920" y="3977640"/>
            <a:ext cx="2194560" cy="411480"/>
          </a:xfrm>
          <a:prstGeom prst="roundRect">
            <a:avLst>
              <a:gd name="adj" fmla="val 50000"/>
            </a:avLst>
          </a:prstGeom>
          <a:solidFill>
            <a:srgbClr val="F5C6D8"/>
          </a:solidFill>
          <a:ln w="12700">
            <a:solidFill>
              <a:srgbClr val="F5C6D8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0" y="3977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4B6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[O teu contacto]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194560" y="4663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5F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capturas de ecrã usam dados fictícios.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NIJB: estudo de caso</dc:title>
  <dc:subject>PptxGenJS Presentation</dc:subject>
  <dc:creator>PptxGenJS</dc:creator>
  <cp:lastModifiedBy>PptxGenJS</cp:lastModifiedBy>
  <cp:revision>1</cp:revision>
  <dcterms:created xsi:type="dcterms:W3CDTF">2026-10-28T12:10:51Z</dcterms:created>
  <dcterms:modified xsi:type="dcterms:W3CDTF">2026-10-28T12:10:51Z</dcterms:modified>
</cp:coreProperties>
</file>